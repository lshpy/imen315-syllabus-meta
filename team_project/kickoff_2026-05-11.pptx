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loss frame 약, gain frame 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−10 표현이 +10보다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 적용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089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69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가변비율 스케줄 그 자체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46177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4709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정량 예측 (시뮬 N=1000)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74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고정 일정 (매주 월) →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4864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비공개 → 20.0%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0350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08075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3× 증가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6080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← 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강의계획서 적용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1089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"중간고사 폐지, 단일 기말 40%"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학기 초 학습이 t = 80일 거리 → B 급락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61772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709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정량 예측 (시뮬)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029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단일 기말 → B ≈ −2.0, T ≈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40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격주 퀴즈 → B ≈ −0.8, T ≈ 2.2초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5989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6035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3.4× 빠른 인출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4000"/>
            </a:avLst>
          </a:prstGeom>
          <a:solidFill>
            <a:srgbClr val="EEEAFE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강의계획서 적용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"팀장이 후보 중 2명을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후보 N개 정보 동시 처리 요구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429768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44348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정량 예측 (시뮬)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00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정보 무제공 N=15 → 평가 완성도 ▼ 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프로필 카드 N≤7 → 92% 유지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623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매칭 알고리즘 → N과 무관 100%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61264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6172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WM 한계 우회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4000"/>
            </a:avLst>
          </a:prstGeom>
          <a:solidFill>
            <a:srgbClr val="FDE8F5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강의계획서 적용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"팀장 +10 가산" vs "기여 저조 −10 차감"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동일 정책의 두 표현 (가상 비교)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461772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4709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예상 효과 크기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Gain frame 자원 의도 — 약함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40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Loss frame 자원 의도 — 약 2× 강함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598932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6035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Cohen's d ≈ 0.5+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60350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← 검증 목표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548640" cy="45720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77439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86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Framing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06039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동일 인센티브를 손실(-10)로 표현할 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이득(+10) 표현보다 자원 의도가 강하다.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503920" y="2331720"/>
            <a:ext cx="0" cy="54864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0" y="23317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통계 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606039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독립표본 t-test (gain vs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54679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3383279"/>
            <a:ext cx="54864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428999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3375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Satisficing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65760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후보 N이 작업기억 한계(7±2)를 초과할수록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팀 구성 만족도가 급격히 감소한다.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03920" y="3383279"/>
            <a:ext cx="0" cy="548641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86800" y="338327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통계 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6576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1원 ANOVA (N=3 / 7 / 15) + Tukey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06240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" y="4434840"/>
            <a:ext cx="548640" cy="4572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80559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3891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Utility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709159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출석 정책이 가변비율(랜덤+비공개)일수록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결석 의도가 가장 낮다.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03920" y="4434840"/>
            <a:ext cx="0" cy="548639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686800" y="44348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통계 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709159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Within-subjects ANOVA (3 조건)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5486400"/>
            <a:ext cx="54864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5321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4406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Forgetting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576072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단일 기말 체제는 격주 퀴즈 체제보다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0F141F"/>
                </a:solidFill>
                <a:latin typeface="맑은 고딕"/>
              </a:rPr>
              <a:t>학기 학습시간 분산이 더 크다 (벼락치기).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03920" y="5486400"/>
            <a:ext cx="0" cy="54864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686800" y="54864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통계 검정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57607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F-test 분산 비교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 → 데이터 → 검증 — 한눈에 흐름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697480" cy="192024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1️⃣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 + Google Forms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동시 배포 (단톡, 에타, 페북)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37560" y="3108960"/>
            <a:ext cx="210312" cy="274320"/>
          </a:xfrm>
          <a:prstGeom prst="rightArrow">
            <a:avLst/>
          </a:prstGeom>
          <a:solidFill>
            <a:srgbClr val="8B95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7872" y="2286000"/>
            <a:ext cx="2697480" cy="192024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2️⃣ 누적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Google Sheets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실시간 자동 적재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45352" y="3108960"/>
            <a:ext cx="210312" cy="274320"/>
          </a:xfrm>
          <a:prstGeom prst="rightArrow">
            <a:avLst/>
          </a:prstGeom>
          <a:solidFill>
            <a:srgbClr val="8B95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55664" y="2286000"/>
            <a:ext cx="2697480" cy="192024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3️⃣ 정제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조작 점검 통과자만 필터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결측치 처리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53144" y="3108960"/>
            <a:ext cx="210312" cy="274320"/>
          </a:xfrm>
          <a:prstGeom prst="rightArrow">
            <a:avLst/>
          </a:prstGeom>
          <a:solidFill>
            <a:srgbClr val="8B95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63456" y="2286000"/>
            <a:ext cx="2697480" cy="192024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6336" y="24231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4️⃣ 검정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29260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Python (pandas, scipy, pingouin)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t-test, ANOVA, F-test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45262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최종 산출 — 보고서·발표에 그대로 들어가는 결과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66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F141F"/>
                </a:solidFill>
                <a:latin typeface="맑은 고딕"/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통계 결과표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5532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각 가설별 t값/F값/p값/효과크기 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166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F141F"/>
                </a:solidFill>
                <a:latin typeface="맑은 고딕"/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59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예측 vs 실측 그래프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59" y="5532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시뮬 예측치와 학생 응답 평균을 같은 축에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5166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F141F"/>
                </a:solidFill>
                <a:latin typeface="맑은 고딕"/>
              </a:rPr>
              <a:t>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799" y="5166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16 유형 분포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799" y="5532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수강생 중 어느 학습 MBTI가 많은지 분포도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끝나면 N=60 응답으로 4 가설 검정 + 시뮬 예측 정합성 확인 + 도구 A/B 응답률 비교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26079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59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206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FDE8F5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동일 설문, 3가지 도구 동시 배포 — 인터페이스 효과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도구 자체의 응답률 차이 = 인간공학적 UI 설계 효과의 실증 데이터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3566160" cy="36576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28346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34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Streamlit 게임형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 MBTI 16유형 분석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59" y="3840480"/>
            <a:ext cx="3200401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59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특징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2519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Fitts ✓ 작업기억 ✓ 즉시 피드백 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59" y="5212080"/>
            <a:ext cx="3200401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59" y="5303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결과 가설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623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 응답률 ~45%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697480"/>
            <a:ext cx="3566160" cy="36576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0" y="28346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880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34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Google Forms 대조군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표준 설문 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0" y="38404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특징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2519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참조 베이스라인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52120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5303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결과 가설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623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24B5C"/>
                </a:solidFill>
                <a:latin typeface="맑은 고딕"/>
              </a:rPr>
              <a:t>예상 응답률 ~30%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59" y="2697480"/>
            <a:ext cx="3566160" cy="36576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21039" y="28346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39" y="2880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39" y="2834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Google Sheets 응답 시트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9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실시간 누적 + 분석 대시보드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321039" y="38404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21039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특징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39" y="42519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응답 자동 적재 · 차트 자동 갱신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39" y="5212080"/>
            <a:ext cx="320040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21039" y="5303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결과 가설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39" y="5623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Admin: ?admin=lshpy2026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다중 에이전트 시뮬 — 분포 효과까지 보기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개인과제는 학생 1명 평균 모델 → 팀과제는 N=1000 학생 분포 모델로 확장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669280" cy="36576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확장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학생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291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1명 (평균)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291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N = 1000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49039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0.15 고정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4903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N(0.15, 0.05)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06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0.50 고정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2062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N(0.50, 0.10)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634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WM 청크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663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7 고정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6634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{5,6,7,8,9}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동기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1206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가정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51206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N(0.50, 0.20)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778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분석 단위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5577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57784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평균 + 하위 25%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2697480"/>
            <a:ext cx="5074920" cy="36576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종류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▸ 분포 효과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6118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평균 vs 하위 25% (저성취 보호)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069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▸ 민감도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389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α, d ±50% 변화에도 결론 유지?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▸ 개입 시뮬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663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분산 퀴즈·프로필 카드 적용 효과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623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▸ T1 캘리브레이션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9436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설문 추정치 → 시뮬 입력 보정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친분 네트워크 시뮬 — 시각화 임팩트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가상 학생 30명의 친분 그래프에서 팀장이 5조건으로 팀원 지명 → 결과 비교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881360" cy="5943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862072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0779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803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무작위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880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랜덤 지명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8803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친분 편향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56432"/>
            <a:ext cx="10881360" cy="5943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575304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62102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93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친분 우선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59359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closeness 상위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93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친분↑ 역량↓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4"/>
            <a:ext cx="10881360" cy="5943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2885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3342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068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역량 우선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30682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ability 상위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3068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역량↑ 친분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82896"/>
            <a:ext cx="10881360" cy="5943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001768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0474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005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WM 한계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50200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친한 7명 떠올림→ 선택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02005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★ Satisficing 발현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596128"/>
            <a:ext cx="10881360" cy="5943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715000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7332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프로필카드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573328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정보 + 다양성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57332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24B5C"/>
                </a:solidFill>
                <a:latin typeface="맑은 고딕"/>
              </a:rPr>
              <a:t>균형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산출: 5장 네트워크 그래프 PNG · 친분 편향 / 역량 std / 관심 entropy 측정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시뮬레이션이 이미 보여주는 정량 예측치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이 그래프들이 실제 학생 응답에서 동일하게 나오는지 검증하는 것이 우리 미션</a:t>
            </a:r>
          </a:p>
        </p:txBody>
      </p:sp>
      <p:pic>
        <p:nvPicPr>
          <p:cNvPr id="8" name="Picture 7" descr="chart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97480"/>
            <a:ext cx="3566160" cy="19462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52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24B5C"/>
                </a:solidFill>
                <a:latin typeface="맑은 고딕"/>
              </a:rPr>
              <a:t>출석 정책별 학기 출석률</a:t>
            </a:r>
          </a:p>
        </p:txBody>
      </p:sp>
      <p:pic>
        <p:nvPicPr>
          <p:cNvPr id="10" name="Picture 9" descr="chart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697480"/>
            <a:ext cx="3566160" cy="19390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9120" y="5852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24B5C"/>
                </a:solidFill>
                <a:latin typeface="맑은 고딕"/>
              </a:rPr>
              <a:t>평가 체계별 인출 시간</a:t>
            </a:r>
          </a:p>
        </p:txBody>
      </p:sp>
      <p:pic>
        <p:nvPicPr>
          <p:cNvPr id="12" name="Picture 11" descr="chart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59" y="2697480"/>
            <a:ext cx="3566160" cy="194626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59" y="58521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24B5C"/>
                </a:solidFill>
                <a:latin typeface="맑은 고딕"/>
              </a:rPr>
              <a:t>후보 수와 평가 완성도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ASSETS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우리는 이미 절반 가지고 있다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3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개인과제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7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8쪽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이론 매핑 + 시뮬 + 개선안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3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시뮬 코드 3종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92607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832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Utility · Memory · WM 모델 구현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210312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37743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Streamlit MBTI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92607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16유형 게임형 설문 라이브 배포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062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8055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Google Sheets 연동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983479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2919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실시간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86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응답 자동 적재 + 분석 탭 자동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42062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48055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Forms 대조군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63440" y="4983479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502919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28문항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5486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A/B 비교용 표준 폼 자동 생성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59" y="42062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4480559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Notion 워크스페이스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4983479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502919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5 sub-pages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486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설명서·자료실·작업실·회의록·소통방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→ 다른 팀이 처음부터 만들 시간을 우리는 검증·분석에 쓴다.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보고서·발표 산출물 청사진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📄 보고서 10쪽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1. 문제 재정의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2. 이론 매핑 (4개)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3. 설계 대안 비교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4. 검증 결과 (T1+T2+T3)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5. 한계 + 결론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331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🖼️ 핵심 그림 5장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80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1. 4규칙 → 행동 인과도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2. 출석 utility 곡선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3. 인출 시간 비교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4. 팀 구성 완성도 곡선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Fig 5. 친분 네트워크 5조건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52627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📊 데이터 표 3개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1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 1. 가설 검정 결과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 2. 도구별 응답률 비교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표 3. 시뮬 vs 실측 정합성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52627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🎤 발표 15분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07491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10분 발표 + 5분 Q&amp;A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· Streamlit 라이브 데모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· 네트워크 그래프 시각화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· 정량 예측 vs 실측 비교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오늘부터 D-32, 마감 6/12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26771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2468879"/>
            <a:ext cx="0" cy="411481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7160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11주 · 5/6–5/12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1945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킥오프 · 주제 확정 · 역할 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2240279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2285999"/>
            <a:ext cx="1280160" cy="228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TODAY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862072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3063239"/>
            <a:ext cx="0" cy="411481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71600" y="2788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12주 · 5/13–5/19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889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설문 초안 · 시뮬 시나리오 확정 · pilot 5명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2834639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2880359"/>
            <a:ext cx="1280160" cy="228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다음 주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3456432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05840" y="3657599"/>
            <a:ext cx="0" cy="41148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71600" y="338327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13주 · 5/20–5/26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38327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설문 본 배포 · 시뮬 확장 실행 · 응답 매일 점검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24160" y="3428999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0" y="3474719"/>
            <a:ext cx="1280160" cy="228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수집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4050791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4251960"/>
            <a:ext cx="0" cy="41148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7160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14주 · 5/28–6/3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97763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응답 마감 N=60 · 통계 분석 · 결과표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24160" y="402336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60" y="4069080"/>
            <a:ext cx="1280160" cy="228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분석</a:t>
            </a:r>
          </a:p>
        </p:txBody>
      </p:sp>
      <p:sp>
        <p:nvSpPr>
          <p:cNvPr id="31" name="Oval 30"/>
          <p:cNvSpPr/>
          <p:nvPr/>
        </p:nvSpPr>
        <p:spPr>
          <a:xfrm>
            <a:off x="914400" y="4645152"/>
            <a:ext cx="182880" cy="182880"/>
          </a:xfrm>
          <a:prstGeom prst="ellipse">
            <a:avLst/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005840" y="4846320"/>
            <a:ext cx="0" cy="41148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37160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15주 · 6/4–6/9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572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보고서 초고 · 발표자료 · 모의 발표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4160" y="461772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424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60" y="4663440"/>
            <a:ext cx="1280160" cy="228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마무리</a:t>
            </a:r>
          </a:p>
        </p:txBody>
      </p:sp>
      <p:sp>
        <p:nvSpPr>
          <p:cNvPr id="37" name="Oval 36"/>
          <p:cNvSpPr/>
          <p:nvPr/>
        </p:nvSpPr>
        <p:spPr>
          <a:xfrm>
            <a:off x="914400" y="5239512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05840" y="5440680"/>
            <a:ext cx="0" cy="411479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371600" y="516635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14–15주 수업시간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516635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최종 발표 (10분 + Q&amp;A 5분)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521208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24160" y="5257800"/>
            <a:ext cx="1280160" cy="228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발표</a:t>
            </a:r>
          </a:p>
        </p:txBody>
      </p:sp>
      <p:sp>
        <p:nvSpPr>
          <p:cNvPr id="43" name="Oval 42"/>
          <p:cNvSpPr/>
          <p:nvPr/>
        </p:nvSpPr>
        <p:spPr>
          <a:xfrm>
            <a:off x="914400" y="5833872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0" y="5760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16주 · 6/12 23:59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57607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LMS 최종 보고서 제출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24160" y="5806440"/>
            <a:ext cx="12801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60" y="5852160"/>
            <a:ext cx="1280160" cy="228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마감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DECIDE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역할 분담 — 오늘 정한다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64008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이론·모델링 리드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240279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0B981"/>
                </a:solidFill>
                <a:latin typeface="맑은 고딕"/>
              </a:rPr>
              <a:t>이승현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이미 진행 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2"/>
            <a:ext cx="1088136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80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설문 설계·배포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80944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9992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Forms·Streamlit 운영, 단톡 배포 주도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9584"/>
            <a:ext cx="1088136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94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데이터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94176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712463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응답 통계 분석 (코드 템플릿 있음)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42816"/>
            <a:ext cx="1088136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407407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시뮬·그래프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407407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42569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T2/T3 코드 실행 및 결과 해석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956048"/>
            <a:ext cx="1088136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20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디자인·발표자료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12064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513892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PPT 제작 (코드 불필요)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88136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보고서 종합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5833872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B95A7"/>
                </a:solidFill>
                <a:latin typeface="맑은 고딕"/>
              </a:rPr>
              <a:t>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852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10쪽 보고서 총괄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오늘 끝내야 하는 것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79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945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역할 분담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6517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 6개 역할을 누가 어떻게 나눌지 합의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063239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8680" y="320040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546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정기 회의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61188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When2meet 결과를 보고 주 1회 시간 확정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16052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114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GitHub 아이디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7200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팀원 5명 GitHub 아이디 공유 → 저장소 초대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49834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8680" y="5120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4F46E5"/>
                </a:solidFill>
                <a:latin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749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설문 배포 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53212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5/13~5/19 중 단톡 배포 일자 합의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548640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1447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+ 이번 주 안에: 각자 개인과제 PDF 자료실 업로드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FINAL THOUGHT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이미 절반은 되어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8B95A7"/>
                </a:solidFill>
                <a:latin typeface="맑은 고딕"/>
              </a:rPr>
              <a:t>남은 한 달, 우리는 검증에만 집중한다.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355080"/>
            <a:ext cx="10881360" cy="0"/>
          </a:xfrm>
          <a:prstGeom prst="line">
            <a:avLst/>
          </a:prstGeom>
          <a:ln w="1905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