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B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194560"/>
            <a:ext cx="54864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IMEN315 인간공학 · 1차 킥오프 · 2026.05.11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FFFFFF"/>
                </a:solidFill>
                <a:latin typeface="맑은 고딕"/>
              </a:rPr>
              <a:t>강의계획서의 인지·행동 유도 메커니즘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204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FFFFFF"/>
                </a:solidFill>
                <a:latin typeface="맑은 고딕"/>
              </a:rPr>
              <a:t>인간공학적 역(逆)분석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8B95A7"/>
                </a:solidFill>
                <a:latin typeface="맑은 고딕"/>
              </a:rPr>
              <a:t>수업에서 배운 이론을 바로 그 수업의 강의계획서에 적용해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8B95A7"/>
                </a:solidFill>
                <a:latin typeface="맑은 고딕"/>
              </a:rPr>
              <a:t>학생 행동을 정량 예측하고 실제 학생들에게서 검증한다.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6035040"/>
            <a:ext cx="10881360" cy="0"/>
          </a:xfrm>
          <a:prstGeom prst="line">
            <a:avLst/>
          </a:prstGeom>
          <a:ln w="12700">
            <a:solidFill>
              <a:srgbClr val="353B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6172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팀장 이승현 · 산업경영공학부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6172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오형석 교수 · 2026 봄학기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우리가 답하려는 핵심 질문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[Q1]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F141F"/>
                </a:solidFill>
                <a:latin typeface="맑은 고딕"/>
              </a:rPr>
              <a:t>강의계획서의 4가지 설계 요소가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4F46E5"/>
                </a:solidFill>
                <a:latin typeface="맑은 고딕"/>
              </a:rPr>
              <a:t>인간공학 이론이 예측한 학생 행동을 실제로 유발하는가?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40233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4206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[Q2]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262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F141F"/>
                </a:solidFill>
                <a:latin typeface="맑은 고딕"/>
              </a:rPr>
              <a:t>이론적 개선안 (분산 평가 · 프로필 카드 · gain frame)이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206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EC4899"/>
                </a:solidFill>
                <a:latin typeface="맑은 고딕"/>
              </a:rPr>
              <a:t>행동 패턴을 의도된 방향으로 변화시키는가?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→ 답 = 이론 적용 깊이 × 검증 견고성 → 30점 핵심 항목 직격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강의계획서가 학생에게 강요하는 규칙 4가지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0B981"/>
                </a:solidFill>
                <a:latin typeface="맑은 고딕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331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랜덤 출석 확인 (10%)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예정일 외에도 임의로 출석 확인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14400" y="3474720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14400" y="35661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→ 매일 출석 강박 발생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103120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3317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59E0B"/>
                </a:solidFill>
                <a:latin typeface="맑은 고딕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331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단일 기말고사 (40%)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9718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중간고사 폐지, 8주차 휴강, 6/17 1회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37960" y="3474720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37960" y="35661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→ 학기말 학습 시간 폭증 (벼락치기)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97679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526279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19" y="452627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팀장 직접 지명 (최대 2명)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6635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지원서 미제출 시 자동 배정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" y="5669279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14400" y="57607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→ 친분 기반 팀 구성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297679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4526279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C4899"/>
                </a:solidFill>
                <a:latin typeface="맑은 고딕"/>
              </a:rPr>
              <a:t>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452627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차등 인센티브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516635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팀장 +10점, 기여 저조 시 감점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537960" y="5669279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537960" y="57607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→ 무임승차·최소 기여 수렴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EXPECTED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강의계획서가 유발하는 4가지 행동 패턴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6771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출석 habituation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3347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랜덤 체크에 적응 → 매일 출석 → 후반부 이탈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395727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출석률 6.7% → 20% (3×)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36391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36391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30098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학기말 벼락치기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666744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기억 활성화가 학기 초 내용에서 급락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428999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인출 시간 7.4초 → 2.2초 (3.4×)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169663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169663"/>
            <a:ext cx="91440" cy="914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334255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친분 기반 satisficing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700016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후보 평가의 작업 기억 한계 초과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462272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N&gt;8에서 평가 완성도 70%↓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0293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202936"/>
            <a:ext cx="91440" cy="914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367527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최소 기여 수렴 (무임승차)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7332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모호한 loss frame 회피 → 책임 회피 강함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5495544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모호한 감점 표현이 +10 가산보다 자원 의도 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수업에서 배운 이론 4개로 정확히 예측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91440" cy="1965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19" y="224027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효용 학습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265176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수업 6주차 · Skinner</a:t>
            </a:r>
          </a:p>
        </p:txBody>
      </p:sp>
      <p:pic>
        <p:nvPicPr>
          <p:cNvPr id="11" name="Picture 10" descr="f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19" y="3017520"/>
            <a:ext cx="396274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19" y="3657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0B981"/>
                </a:solidFill>
                <a:latin typeface="맑은 고딕"/>
              </a:rPr>
              <a:t>가변비율 강화 — 슬롯머신 원리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103120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2103120"/>
            <a:ext cx="91440" cy="1965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24027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망각 곡선 + 활성화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65176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수업 5–7주차 · Ebbinghaus + Anderson</a:t>
            </a:r>
          </a:p>
        </p:txBody>
      </p:sp>
      <p:pic>
        <p:nvPicPr>
          <p:cNvPr id="17" name="Picture 16" descr="f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3017520"/>
            <a:ext cx="248763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83680" y="3657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F59E0B"/>
                </a:solidFill>
                <a:latin typeface="맑은 고딕"/>
              </a:rPr>
              <a:t>분산 학습이 인출을 가속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97679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297679"/>
            <a:ext cx="91440" cy="19659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19" y="44348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작업 기억 + 만족화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19" y="4846319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수업 12주차 · Miller(1956) + Simon(1956)</a:t>
            </a:r>
          </a:p>
        </p:txBody>
      </p:sp>
      <p:pic>
        <p:nvPicPr>
          <p:cNvPr id="23" name="Picture 22" descr="f_w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19" y="5212079"/>
            <a:ext cx="2873829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60119" y="5852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F46E5"/>
                </a:solidFill>
                <a:latin typeface="맑은 고딕"/>
              </a:rPr>
              <a:t>한계 초과 시 직관·친분으로 후퇴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297679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4297679"/>
            <a:ext cx="91440" cy="19659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44348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표현 효과 + 손실 회피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846319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Tversky &amp; Kahneman (1981)</a:t>
            </a:r>
          </a:p>
        </p:txBody>
      </p:sp>
      <p:pic>
        <p:nvPicPr>
          <p:cNvPr id="29" name="Picture 28" descr="f_fram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5212079"/>
            <a:ext cx="3345316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583680" y="5852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EC4899"/>
                </a:solidFill>
                <a:latin typeface="맑은 고딕"/>
              </a:rPr>
              <a:t>동일 결과도 손실 표현이 더 강함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→ 다음 4장에서 각 이론을 자세히 풀어봅니다.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1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보상이 가끔, 무작위로 나올 때 행동이 가장 잘 굳는다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보상을 받으면 그 행동을 또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근데 보상이 "언제 나올지 모르게" 띄엄띄엄 나올 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0B981"/>
                </a:solidFill>
                <a:latin typeface="맑은 고딕"/>
              </a:rPr>
              <a:t>그 행동이 가장 강하게, 가장 오래 굳는다.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거랑 똑같아요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슬롯머신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당첨이 가끔, 언제 나올지 모름.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끊기 어려움.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인스타·SNS 알림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좋아요·댓글이 무작위 시점에 옴.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계속 확인하게 됨.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가챠 게임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확률 뽑기. 다음 판에 나올 수도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있다는 기대 → 멈출 수 없음.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1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효용 학습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수업 6주차 · 가변비율 강화 (Variable-Ratio Reinforcement)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5440680" cy="12801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공식</a:t>
            </a:r>
          </a:p>
        </p:txBody>
      </p:sp>
      <p:pic>
        <p:nvPicPr>
          <p:cNvPr id="10" name="Picture 9" descr="f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17520"/>
            <a:ext cx="5043488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9319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변수 의미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976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U(n)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429768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n번째 시행 후 행동 효용 (출석할 가치)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70916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R(n)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70916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이번 시행의 보상 (출석 체크 ⇒ +1 / 결석 적발 ⇒ −1)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12064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2064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학습률 (≈0.15) — 새 경험을 얼마나 받아들이는가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6692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비유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9893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슬롯머신 — 보상이 "가끔" 무작위로 주어질 때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행동이 가장 강하게 굳어짐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651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강의계획서가 만들어내는 효과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01752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"출석 예정일 외에도 임의로 체크"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657600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학생은 "오늘 안 가면 잡힐까?" 모름.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슬롯머신처럼 매일 출석하게 됨.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행동이 굳어서 한 학기 내내 출석.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92240" y="5074920"/>
            <a:ext cx="4846320" cy="0"/>
          </a:xfrm>
          <a:prstGeom prst="line">
            <a:avLst/>
          </a:prstGeom>
          <a:ln w="190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92240" y="5166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시뮬레이션 결과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5486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월요일만 체크하면 출석률 6.7%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랜덤+비공개로 하면 20% (3배 ↑)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626364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6263640"/>
            <a:ext cx="1828800" cy="36576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검증할 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2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한 번 본 건 잊히고, 자주 나눠서 보면 오래 남는다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기억은 시간이 지나면 사라진다.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근데 "여러 번에 나눠서" 학습하면 사라지는 속도가 느려진다.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59E0B"/>
                </a:solidFill>
                <a:latin typeface="맑은 고딕"/>
              </a:rPr>
              <a:t>한 번에 몰아 학습한 것은 시험장에서 안 떠오른다.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경험 다들 있죠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벼락치기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시험 전날 6시간 공부 →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시험장에서 "분명 봤는데..."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노래 가사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한 번 들으면 잊지만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10번 띄엄띄엄 들으면 외워짐.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어릴 때 배운 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오래전에 자주 배워서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지금까지 안 잊혀짐.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2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망각 곡선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수업 5–7주차 · Base-level Activation (Anderson)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5440680" cy="12801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공식</a:t>
            </a:r>
          </a:p>
        </p:txBody>
      </p:sp>
      <p:pic>
        <p:nvPicPr>
          <p:cNvPr id="10" name="Picture 9" descr="f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71800"/>
            <a:ext cx="3392222" cy="685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9319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변수 의미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9768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297680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청크의 활성도 (높을수록 잘 떠오름)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68172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t_j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681728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j번째 학습 후 경과 시간 (일)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065776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5065776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망각 속도 (≈0.5)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44982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T_retrieval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449824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시험장에서 그 청크 떠올리는 시간 (초)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9893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핵심: 자주·분산해서 학습할수록 B가 커지고 T가 짧아짐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651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강의계획서가 만들어내는 효과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01752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"중간고사 폐지, 기말고사 1회 (40%)"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6576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3월에 배운 내용을 6월 시험에서 떠올려야 함.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80일이나 지났으니 기억이 거의 사라짐.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시험 직전 벼락치기로 몰림 (massed practice).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92240" y="5074920"/>
            <a:ext cx="4846320" cy="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92240" y="5166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F59E0B"/>
                </a:solidFill>
                <a:latin typeface="맑은 고딕"/>
              </a:rPr>
              <a:t>시뮬레이션 결과 — 시험장 인출 시간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486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단일 기말 학생: 답 떠올리는 데 약 7.4초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격주 퀴즈 학생: 약 2.2초 (3.4배 빠름)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92240" y="6263640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6263640"/>
            <a:ext cx="2011680" cy="36576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3.4× 빠른 인출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3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사람 머리는 한 번에 7개만 비교 가능, 그 이상은 대충 결정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동시에 여러 정보를 못 비교한다.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정보가 많아지면 "최적" 대신 "그럭저럭 괜찮은" 첫 번째 옵션에서 멈춘다.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F46E5"/>
                </a:solidFill>
                <a:latin typeface="맑은 고딕"/>
              </a:rPr>
              <a:t>이걸 만족화 (Satisficing) 라고 한다 — Simon이 노벨상 받은 개념.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일상에서 매일 일어나는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카페 메뉴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메뉴 3개면 다 비교.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메뉴 30개면 "그냥 라떼"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쇼핑몰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비슷한 상품 50개 →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중간 가격 첫 번째 클릭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팀 멤버 뽑기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후보 15명? → 떠오르는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친한 5명으로 결정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3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작업 기억 — 7±2와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수업 12주차 · Bounded Rationality (제한된 합리성)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5440680" cy="1554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두 가지 원리</a:t>
            </a:r>
          </a:p>
        </p:txBody>
      </p:sp>
      <p:pic>
        <p:nvPicPr>
          <p:cNvPr id="10" name="Picture 9" descr="f_w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17520"/>
            <a:ext cx="2612571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361188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Simon (1956): 한계 초과 → Satisficing (만족화)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Satisficing이란?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5720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최적(optimal) 선택을 포기하고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"그럭저럭 괜찮은(good enough)" 첫 번째 옵션에서 멈춤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521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비유 — 카페 메뉴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6172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메뉴 3개: 다 비교 가능 / 메뉴 30개: "그냥 라떼"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651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강의계획서가 만들어내는 효과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01752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"팀장이 팀원 중 2명을 직접 지명"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5760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후보가 많으면 머리에 다 안 들어옴.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떠오르는 친한 사람으로 결정 (satisficing).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결과: 친분 기반 팀 구성, 역량 균형 깨짐.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92240" y="5074920"/>
            <a:ext cx="4846320" cy="0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92240" y="5166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F46E5"/>
                </a:solidFill>
                <a:latin typeface="맑은 고딕"/>
              </a:rPr>
              <a:t>시뮬레이션 결과 — 팀 구성 만족도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486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후보 정보 없이 N=15: 만족도 70% 이하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프로필 카드 주면: 92% 유지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626364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6263640"/>
            <a:ext cx="2286000" cy="36576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한계 우회 가능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4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같은 결과도 "이득" vs "손실" 표현에 따라 반응이 다르다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"잃는 것"을 "얻는 것"보다 약 2배 더 강하게 느낀다.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그래서 같은 -10점도 "가산점 없음"보다 "감점"이라 하면 훨씬 무서움.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C4899"/>
                </a:solidFill>
                <a:latin typeface="맑은 고딕"/>
              </a:rPr>
              <a:t>→ 똑같은 정책도 표현 방식만 바꾸면 행동이 달라진다.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차이 다들 느껴봤을 거예요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할인 vs 추가요금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"5% 할인" 좋아하지만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"5% 추가"는 짜증.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수술 성공률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"90% 성공" → 받음.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"10% 사망" → 거부.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교통카드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"적립 0원"보다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"수수료 100원"이 화남.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4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표현 방식 효과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Prospect Theory (1979) · Framing of Decisions (1981)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5440680" cy="1554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974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동일한 결과도 "이득"으로 표현 vs "손실"로 표현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20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→ 사람의 반응이 다르다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976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수치적 비대칭</a:t>
            </a:r>
          </a:p>
        </p:txBody>
      </p:sp>
      <p:pic>
        <p:nvPicPr>
          <p:cNvPr id="13" name="Picture 12" descr="f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617720"/>
            <a:ext cx="3345316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8680" y="52120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= 같은 −10원 손실이 +10원 이득보다 약 2배 강함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고전 실험 — Asian disease problem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62179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동일 정책 → 표현만 바꿔도 선택률 72% vs 22%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651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강의계획서가 만들어내는 효과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01752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"+10점 가산" vs "현저히 낮다고 판단 시 감점"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6576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+10은 "준다"는 명확한 보상.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감점은 "기준이 모호한 위협".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학생은 모호한 위협에 더 강하게 회피 반응.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92240" y="5074920"/>
            <a:ext cx="4846320" cy="0"/>
          </a:xfrm>
          <a:prstGeom prst="line">
            <a:avLst/>
          </a:prstGeom>
          <a:ln w="19050">
            <a:solidFill>
              <a:srgbClr val="EC4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92240" y="5166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EC4899"/>
                </a:solidFill>
                <a:latin typeface="맑은 고딕"/>
              </a:rPr>
              <a:t>예상 결과 — 표현만 달라도 반응 차이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486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+10 가산 보고 자원하는 학생: 적당함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감점 회피하려 자원하는 학생: 약 2배 많음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626364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6263640"/>
            <a:ext cx="2194560" cy="36576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손실 회피 효과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HYPOTHESES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우리가 데이터로 검증할 4가지 가설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377439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77439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26771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표현 방식 효과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54203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모호한 감점 표현이 명확한 +10 가산보다 회피·자원 의도가 더 강하다.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81635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💡 우리가 보고 싶은 결과: 감점 그룹 응답이 +10 그룹보다 약 2배 더 강한 의도 (Cohen's d ≈ 0.5+)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182111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3456431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56431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46703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그럭저럭 만족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621023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후보 N이 7명을 넘어가면 팀 구성 만족도가 급격히 떨어진다.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895344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💡 우리가 보고 싶은 결과: N=3·7 그룹은 만족도 5~6점, N=15 그룹은 4점 이하로 급감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61104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" y="4535424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535424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425696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효용 학습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700016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정책이 무작위+비공개일수록 결석 의도가 가장 낮다.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974336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💡 우리가 보고 싶은 결과: 결석 의도: 고정 매주월 &gt; 랜덤 빈도공개 &gt; 랜덤 비공개 순서로 감소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340096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" y="5614416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614416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5046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망각 곡선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577900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단일 기말 체제는 격주 퀴즈 체제보다 학습시간 분산이 훨씬 크다.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6053328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💡 우리가 보고 싶은 결과: 단일 기말: 8주차 5h, 15주차 15h (3배). 격주 퀴즈: 8주차·15주차 ≈ 9h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T1 설문 실험 — 정확히 무엇을 어떻게 하는가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한 응답자가 5분 안에 4가지 가상 상황을 마주합니다.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424B5C"/>
                </a:solidFill>
                <a:latin typeface="맑은 고딕"/>
              </a:rPr>
              <a:t>그 응답을 바탕으로 우리는 인간공학 이론 4개의 예측이 맞는지 검증합니다.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3375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520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응답자 입장에서 진행되는 흐름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3192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도입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931920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닉네임 + 학년 입력 (5초)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31596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315968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315968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비 오는 화요일에 출석할지를 3 정책에서 답함 (within-subjects)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700016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700016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팀장 인센티브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70001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강의계획서의 gain·loss 표현 중 하나를 무작위로 보고 자원 의도 응답 (between)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08406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084064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팀원 직접 지명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5084064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후보 N명 중 2명 지명 — 친분 vs 역량 트레이드오프 (between)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46811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546811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평가 체계 시뮬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5468112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두 평가 체제에서 본인 학습시간 분포 추정 (within)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85216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585216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결과 분석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5852160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Streamlit은 16 학습 MBTI 자동 진단 + 즉시 피드백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가장 중요한 것: 한 명의 응답이 H1·H2·H3·H4 4가지 가설을 동시에 검증하는 데이터가 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DATA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응답 → 데이터 → 검증 — 한눈에 흐름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2697480" cy="192024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4231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0B981"/>
                </a:solidFill>
                <a:latin typeface="맑은 고딕"/>
              </a:rPr>
              <a:t>1️⃣ 수집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926080"/>
            <a:ext cx="2377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Streamlit + Google Forms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동시 배포 (단톡, 에타, 페북)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337560" y="3108960"/>
            <a:ext cx="210312" cy="274320"/>
          </a:xfrm>
          <a:prstGeom prst="rightArrow">
            <a:avLst/>
          </a:prstGeom>
          <a:solidFill>
            <a:srgbClr val="8B95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47872" y="2286000"/>
            <a:ext cx="2697480" cy="192024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0752" y="24231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F46E5"/>
                </a:solidFill>
                <a:latin typeface="맑은 고딕"/>
              </a:rPr>
              <a:t>2️⃣ 누적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0752" y="2926080"/>
            <a:ext cx="2377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Google Sheets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실시간 자동 적재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245352" y="3108960"/>
            <a:ext cx="210312" cy="274320"/>
          </a:xfrm>
          <a:prstGeom prst="rightArrow">
            <a:avLst/>
          </a:prstGeom>
          <a:solidFill>
            <a:srgbClr val="8B95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55664" y="2286000"/>
            <a:ext cx="2697480" cy="192024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38544" y="24231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59E0B"/>
                </a:solidFill>
                <a:latin typeface="맑은 고딕"/>
              </a:rPr>
              <a:t>3️⃣ 정제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38544" y="2926080"/>
            <a:ext cx="2377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조작 점검 통과자만 필터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결측치 처리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153144" y="3108960"/>
            <a:ext cx="210312" cy="274320"/>
          </a:xfrm>
          <a:prstGeom prst="rightArrow">
            <a:avLst/>
          </a:prstGeom>
          <a:solidFill>
            <a:srgbClr val="8B95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63456" y="2286000"/>
            <a:ext cx="2697480" cy="192024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46336" y="24231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C4899"/>
                </a:solidFill>
                <a:latin typeface="맑은 고딕"/>
              </a:rPr>
              <a:t>4️⃣ 검정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46336" y="2926080"/>
            <a:ext cx="2377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Python (pandas, scipy, pingouin)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t-test, ANOVA, F-test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0080" y="45262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" y="4663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최종 산출 — 보고서·발표에 그대로 들어가는 결과 형식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1663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0F141F"/>
                </a:solidFill>
                <a:latin typeface="맑은 고딕"/>
              </a:rPr>
              <a:t>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19" y="51663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통계 결과표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19" y="553212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각 가설별 t값/F값/p값/효과크기 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51663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0F141F"/>
                </a:solidFill>
                <a:latin typeface="맑은 고딕"/>
              </a:rPr>
              <a:t>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59" y="51663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예측 vs 실측 그래프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59" y="553212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시뮬 예측치와 학생 응답 평균을 같은 축에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59" y="51663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0F141F"/>
                </a:solidFill>
                <a:latin typeface="맑은 고딕"/>
              </a:rPr>
              <a:t>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799" y="51663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16 유형 분포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799" y="553212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수강생 중 어느 학습 MBTI가 많은지 분포도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끝나면 N=60 응답으로 4 가설 검정 + 시뮬 예측 정합성 확인 + 도구 A/B 응답률 비교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출석 정책에 따른 결석 의도 (within-subjects)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한 응답자가 3가지 가상 상황을 모두 평가 → 동일인 비교로 검정력 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7706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고정 — 매주 월요일 체크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15468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89864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출석률 6.7% (예측)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36118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40080" y="3977639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77639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867911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랜덤 + 횟수 공지 (30회 중 7회)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51959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99592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출석률 20% (예측)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47091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40080" y="5074920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074920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96519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랜덤 + 횟수 비공개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34924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509320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출석률 20% (가변강화 최대)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측정: 결석 의도 1~7 점수 + 비 오는 날 갈 가능성 0~100% · 가설 H3 검정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팀장 인센티브 표현 효과 — 강의계획서 그대로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강의계획서의 두 표현을 그대로 분리해 보여줌 — gain은 명확, loss는 모호 (비대칭 자체가 발견)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43200"/>
            <a:ext cx="91440" cy="3200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743200"/>
            <a:ext cx="5303520" cy="320040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926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조건 A · GAIN frame (명확)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337560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"팀장 자원자에게</a:t>
            </a:r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+10점 가산"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526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표현 특성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846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+10이라는 명확한 수치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212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능동 보상 · 긍정 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56235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예상: 자원 의도 약함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2743200"/>
            <a:ext cx="91440" cy="3200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0" y="2743200"/>
            <a:ext cx="5120640" cy="3200400"/>
          </a:xfrm>
          <a:prstGeom prst="roundRect">
            <a:avLst>
              <a:gd name="adj" fmla="val 6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926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조건 B · LOSS frame (모호)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337560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"기여도 저조 시 감점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(현저히 낮다고 판단 시)"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5262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표현 특성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8463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감점 폭 미명시 → 모호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5212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위협 · 회피 · 손실 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6235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예상: 회피 의도 강함 (≈2×)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발견 포인트: 강의계획서가 gain은 명확하게, loss는 모호하게 설계 → 학생 회피 행동 강화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팀원 직접 지명 — 실제 행동 측정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후보 N명에서 정확히 2명 지명 (강의계획서 규칙 그대로) — 결정 시간·만족도·친분 편향 측정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43200"/>
            <a:ext cx="3502152" cy="1554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10B981"/>
                </a:solidFill>
                <a:latin typeface="맑은 고딕"/>
              </a:rPr>
              <a:t>N =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단순 비교 가능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WM 한계 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743200"/>
            <a:ext cx="3502152" cy="1554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59E0B"/>
                </a:solidFill>
                <a:latin typeface="맑은 고딕"/>
              </a:rPr>
              <a:t>N =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WM 임계점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F59E0B"/>
                </a:solidFill>
                <a:latin typeface="맑은 고딕"/>
              </a:rPr>
              <a:t>처리 한계 직전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743200"/>
            <a:ext cx="3502152" cy="1554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EC4899"/>
                </a:solidFill>
                <a:latin typeface="맑은 고딕"/>
              </a:rPr>
              <a:t>N = 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한계 초과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EC4899"/>
                </a:solidFill>
                <a:latin typeface="맑은 고딕"/>
              </a:rPr>
              <a:t>Satisficing 발현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자동 측정 지표 (응답 페이지 timestamp 활용)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029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친분 편향 점수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276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선택된 2명의 친밀도 / 최댓값 (0~1)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029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역량 점수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276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선택된 2명의 역량 / 최댓값 (0~1)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532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결정 시간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779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페이지 진입 → 제출까지 (초)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532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만족도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779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1~7 Likert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EC4899"/>
                </a:solidFill>
                <a:latin typeface="맑은 고딕"/>
              </a:rPr>
              <a:t>후보 풀 설계: 친분 ★★★★★(역량 중) ↔ 친분 ★(역량 최고) — 트레이드오프 강제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평가 체계 → 학습시간 분포 (within-subjects)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한 응답자가 두 평가 체계 시나리오에서 본인의 학습 시간을 시점별로 예상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97480"/>
            <a:ext cx="5440680" cy="329184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697480"/>
            <a:ext cx="91440" cy="3291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34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체제 A · 단일 기말 (40%)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91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응답: 8주차 · 15주차 학습/주 (시간)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예상 분포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14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8주차: 적음 · 15주차: 폭증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8680" y="4572000"/>
            <a:ext cx="498348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68680" y="4663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이론 예측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8348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B 활성화 ≈ −2.0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인출 시간 7.4초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697480"/>
            <a:ext cx="5257800" cy="329184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2697480"/>
            <a:ext cx="91440" cy="3291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834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체제 B · 격주 퀴즈 6회 + 기말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응답: 8주차 · 15주차 학습/주 (시간)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74903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예상 분포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114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8주차 ≈ 15주차 (분산 학습)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92240" y="4572000"/>
            <a:ext cx="49377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92240" y="4663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이론 예측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98348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B 활성화 ≈ −0.8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인출 시간 2.2초 (3.4× 빠름)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측정: 학습시간 분포 분산 비교 (F-test) · 이론 예측치 vs 학생 자기보고 정합성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동일 설문, 3가지 도구 동시 배포 — 인터페이스 효과 측정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도구 자체의 응답률 차이 = 인간공학적 UI 설계 효과의 실증 데이터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97480"/>
            <a:ext cx="3566160" cy="36576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59" y="2834640"/>
            <a:ext cx="457200" cy="36576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2834640"/>
            <a:ext cx="457200" cy="36576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8346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Streamlit 게임형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3832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학습 MBTI 16유형 분석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59" y="3840480"/>
            <a:ext cx="3200401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59" y="39319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특징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425196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Fitts ✓ 작업기억 ✓ 즉시 피드백 ✓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22959" y="5212080"/>
            <a:ext cx="3200401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22959" y="53035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결과 가설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5623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예상 응답률 ~45%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2697480"/>
            <a:ext cx="3566160" cy="36576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72000" y="2834640"/>
            <a:ext cx="457200" cy="365760"/>
          </a:xfrm>
          <a:prstGeom prst="roundRect">
            <a:avLst>
              <a:gd name="adj" fmla="val 50000"/>
            </a:avLst>
          </a:prstGeom>
          <a:solidFill>
            <a:srgbClr val="424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2834640"/>
            <a:ext cx="457200" cy="36576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28346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Google Forms 대조군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3832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표준 설문 폼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0" y="3840480"/>
            <a:ext cx="320040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0" y="39319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특징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425196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참조 베이스라인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0" y="5212080"/>
            <a:ext cx="320040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0" y="53035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결과 가설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5623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24B5C"/>
                </a:solidFill>
                <a:latin typeface="맑은 고딕"/>
              </a:rPr>
              <a:t>예상 응답률 ~30%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59" y="2697480"/>
            <a:ext cx="3566160" cy="36576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321039" y="2834640"/>
            <a:ext cx="457200" cy="36576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39" y="2834640"/>
            <a:ext cx="457200" cy="36576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6839" y="28346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Google Sheets 응답 시트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39" y="33832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실시간 누적 + 분석 대시보드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321039" y="3840480"/>
            <a:ext cx="320040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321039" y="39319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특징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39" y="425196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응답 자동 적재 · 차트 자동 갱신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321039" y="5212080"/>
            <a:ext cx="320040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321039" y="53035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결과 가설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39" y="5623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Admin: ?admin=lshpy2026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T2 · 컴퓨터 시뮬레이션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가상 학생 1000명을 만들어 "약한 학생도 보호되는지" 본다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왜 1000명이나? 평균만 보면 가려지는 진실이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예: "평균 출석률 80%"라고 해도, 학습률 낮은 학생은 30%일 수 있음.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29184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개인과제 → 팀과제 확장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840480"/>
            <a:ext cx="5440680" cy="237744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9776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8B95A7"/>
                </a:solidFill>
                <a:latin typeface="맑은 고딕"/>
              </a:rPr>
              <a:t>개인과제 (현재)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3891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학생 1명 평균만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93776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모든 학생이 똑같이 학습률 0.15,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작업 기억 7개라고 가정.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"평균적 학생"만 본 결과.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840480"/>
            <a:ext cx="5257800" cy="2377440"/>
          </a:xfrm>
          <a:prstGeom prst="roundRect">
            <a:avLst>
              <a:gd name="adj" fmla="val 6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977639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팀과제 (확장)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3891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가상 학생 1000명, 사람마다 다르게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93776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학습률·기억력·작업 기억이 모두 다른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1000명을 가상으로 만들어 시뮬.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평균뿐 아니라 하위 25%도 본다.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→ 보고서 핵심 한 줄: "개선안이 약한 학생도 도와주는가?"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T3 · 친분 그래프 시뮬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친구 관계를 그림으로 그려서 "팀장이 누구를 뽑는지" 시뮬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사람 모집 없이도 친분 휴리스틱을 검증할 수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가상 학생 30명에 친한 정도를 다 설정 → 팀장이 5가지 방식으로 뽑게 함 → 그림으로 비교.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29184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5가지 팀장 선택 방식 (그림 5장 산출)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886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무작위로 뽑기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8862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그냥 랜덤 5명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친분 편향 0 → 비교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407407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36168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친한 사람만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36168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친밀도 상위 5명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4361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EC4899"/>
                </a:solidFill>
                <a:latin typeface="맑은 고딕"/>
              </a:rPr>
              <a:t>친분 100%, 역량 낮음 (현실)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82896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371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잘하는 사람만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48371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역량 상위 5명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483717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F46E5"/>
                </a:solidFill>
                <a:latin typeface="맑은 고딕"/>
              </a:rPr>
              <a:t>역량 100%, 친분 0 (이상)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35838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31266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머리에 떠오르는 사람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531266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친한 7명 떠올리고 그 중 5명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531266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F59E0B"/>
                </a:solidFill>
                <a:latin typeface="맑은 고딕"/>
              </a:rPr>
              <a:t>현실의 satisficing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8338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24B5C"/>
                </a:solidFill>
                <a:latin typeface="맑은 고딕"/>
              </a:rPr>
              <a:t>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7881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프로필 카드 보고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57881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정보 본 후 다양성 고려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578815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24B5C"/>
                </a:solidFill>
                <a:latin typeface="맑은 고딕"/>
              </a:rPr>
              <a:t>균형 잡힌 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결과: 5장의 네트워크 그래프 → 발표 슬라이드 임팩트 최고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시뮬레이션이 이미 보여주는 정량 예측치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이 그래프들이 실제 학생 응답에서 동일하게 나오는지 검증하는 것이 우리 미션</a:t>
            </a:r>
          </a:p>
        </p:txBody>
      </p:sp>
      <p:pic>
        <p:nvPicPr>
          <p:cNvPr id="8" name="Picture 7" descr="chart_attend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697480"/>
            <a:ext cx="3566160" cy="194626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8521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24B5C"/>
                </a:solidFill>
                <a:latin typeface="맑은 고딕"/>
              </a:rPr>
              <a:t>출석 정책별 학기 출석률</a:t>
            </a:r>
          </a:p>
        </p:txBody>
      </p:sp>
      <p:pic>
        <p:nvPicPr>
          <p:cNvPr id="10" name="Picture 9" descr="chart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697480"/>
            <a:ext cx="3566160" cy="193907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89120" y="58521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24B5C"/>
                </a:solidFill>
                <a:latin typeface="맑은 고딕"/>
              </a:rPr>
              <a:t>평가 체계별 인출 시간</a:t>
            </a:r>
          </a:p>
        </p:txBody>
      </p:sp>
      <p:pic>
        <p:nvPicPr>
          <p:cNvPr id="12" name="Picture 11" descr="chart_te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59" y="2697480"/>
            <a:ext cx="3566160" cy="194626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59" y="58521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24B5C"/>
                </a:solidFill>
                <a:latin typeface="맑은 고딕"/>
              </a:rPr>
              <a:t>후보 수와 평가 완성도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ASSETS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우리는 이미 절반 가지고 있다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77439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개인과제 PDF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88036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80360"/>
            <a:ext cx="1371600" cy="36576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8쪽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7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이론 매핑 + 시뮬 + 개선안 완성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10312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377439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시뮬 코드 3종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288036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880360"/>
            <a:ext cx="1371600" cy="36576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GitHub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38327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Utility · Memory · WM 모델 구현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210312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2377439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Streamlit MBTI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0" y="288036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2880360"/>
            <a:ext cx="1371600" cy="36576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Live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38327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16유형 게임형 설문 라이브 배포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20624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480559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Google Sheets 연동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4983479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983479"/>
            <a:ext cx="1371600" cy="36576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실시간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48640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응답 자동 적재 + 분석 탭 자동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9120" y="420624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3440" y="4480559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Forms 대조군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63440" y="4983479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3440" y="4983479"/>
            <a:ext cx="1371600" cy="36576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28문항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548640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A/B 비교용 표준 폼 자동 생성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38159" y="420624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0" y="4480559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Notion 워크스페이스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4983479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0" y="4983479"/>
            <a:ext cx="1371600" cy="36576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5 sub-pages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548640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설명서·자료실·작업실·회의록·소통방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→ 다른 팀이 처음부터 만들 시간을 우리는 검증·분석에 쓴다.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보고서·발표 산출물 청사진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F46E5"/>
                </a:solidFill>
                <a:latin typeface="맑은 고딕"/>
              </a:rPr>
              <a:t>📄 보고서 10쪽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1. 문제 재정의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2. 이론 매핑 (4개)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3. 설계 대안 비교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4. 검증 결과 (T1+T2+T3)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5. 한계 + 결론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103120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3317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F46E5"/>
                </a:solidFill>
                <a:latin typeface="맑은 고딕"/>
              </a:rPr>
              <a:t>🖼️ 핵심 그림 5장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88036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Fig 1. 4규칙 → 행동 인과도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Fig 2. 출석 utility 곡선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Fig 3. 인출 시간 비교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Fig 4. 팀 구성 완성도 곡선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Fig 5. 친분 네트워크 5조건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297679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526279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F46E5"/>
                </a:solidFill>
                <a:latin typeface="맑은 고딕"/>
              </a:rPr>
              <a:t>📊 데이터 표 3개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074919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표 1. 가설 검정 결과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표 2. 도구별 응답률 비교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표 3. 시뮬 vs 실측 정합성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4297679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4526279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F46E5"/>
                </a:solidFill>
                <a:latin typeface="맑은 고딕"/>
              </a:rPr>
              <a:t>🎤 발표 15분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5074919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10분 발표 + 5분 Q&amp;A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· Streamlit 라이브 데모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· 네트워크 그래프 시각화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· 정량 예측 vs 실측 비교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오늘부터 D-32, 마감 6/12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17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2267712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005840" y="2468879"/>
            <a:ext cx="0" cy="411481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371600" y="21945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11주 · 5/6–5/12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19456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킥오프 · 주제 확정 · 역할 배분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24160" y="2240279"/>
            <a:ext cx="1280160" cy="32004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0" y="2240279"/>
            <a:ext cx="1280160" cy="32004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TODAY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2862072"/>
            <a:ext cx="182880" cy="182880"/>
          </a:xfrm>
          <a:prstGeom prst="ellipse">
            <a:avLst/>
          </a:prstGeom>
          <a:solidFill>
            <a:srgbClr val="424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05840" y="3063239"/>
            <a:ext cx="0" cy="411481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371600" y="27889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12주 · 5/13–5/19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78892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설문 초안 · 시뮬 시나리오 확정 · pilot 5명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24160" y="2834639"/>
            <a:ext cx="1280160" cy="320040"/>
          </a:xfrm>
          <a:prstGeom prst="roundRect">
            <a:avLst>
              <a:gd name="adj" fmla="val 50000"/>
            </a:avLst>
          </a:prstGeom>
          <a:solidFill>
            <a:srgbClr val="424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0" y="2834639"/>
            <a:ext cx="1280160" cy="32004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다음 주</a:t>
            </a:r>
          </a:p>
        </p:txBody>
      </p:sp>
      <p:sp>
        <p:nvSpPr>
          <p:cNvPr id="19" name="Oval 18"/>
          <p:cNvSpPr/>
          <p:nvPr/>
        </p:nvSpPr>
        <p:spPr>
          <a:xfrm>
            <a:off x="914400" y="3456432"/>
            <a:ext cx="182880" cy="182880"/>
          </a:xfrm>
          <a:prstGeom prst="ellipse">
            <a:avLst/>
          </a:prstGeom>
          <a:solidFill>
            <a:srgbClr val="424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1005840" y="3657599"/>
            <a:ext cx="0" cy="41148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371600" y="338327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13주 · 5/20–5/26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383279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설문 본 배포 · 시뮬 확장 실행 · 응답 매일 점검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24160" y="3428999"/>
            <a:ext cx="1280160" cy="320040"/>
          </a:xfrm>
          <a:prstGeom prst="roundRect">
            <a:avLst>
              <a:gd name="adj" fmla="val 50000"/>
            </a:avLst>
          </a:prstGeom>
          <a:solidFill>
            <a:srgbClr val="424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60" y="3428999"/>
            <a:ext cx="1280160" cy="32004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수집</a:t>
            </a:r>
          </a:p>
        </p:txBody>
      </p:sp>
      <p:sp>
        <p:nvSpPr>
          <p:cNvPr id="25" name="Oval 24"/>
          <p:cNvSpPr/>
          <p:nvPr/>
        </p:nvSpPr>
        <p:spPr>
          <a:xfrm>
            <a:off x="914400" y="4050791"/>
            <a:ext cx="182880" cy="182880"/>
          </a:xfrm>
          <a:prstGeom prst="ellipse">
            <a:avLst/>
          </a:prstGeom>
          <a:solidFill>
            <a:srgbClr val="424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1005840" y="4251960"/>
            <a:ext cx="0" cy="41148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371600" y="397763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14주 · 5/28–6/3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3977639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응답 마감 N=60 · 통계 분석 · 결과표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424160" y="4023360"/>
            <a:ext cx="1280160" cy="320040"/>
          </a:xfrm>
          <a:prstGeom prst="roundRect">
            <a:avLst>
              <a:gd name="adj" fmla="val 50000"/>
            </a:avLst>
          </a:prstGeom>
          <a:solidFill>
            <a:srgbClr val="424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24160" y="4023360"/>
            <a:ext cx="1280160" cy="32004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분석</a:t>
            </a:r>
          </a:p>
        </p:txBody>
      </p:sp>
      <p:sp>
        <p:nvSpPr>
          <p:cNvPr id="31" name="Oval 30"/>
          <p:cNvSpPr/>
          <p:nvPr/>
        </p:nvSpPr>
        <p:spPr>
          <a:xfrm>
            <a:off x="914400" y="4645152"/>
            <a:ext cx="182880" cy="182880"/>
          </a:xfrm>
          <a:prstGeom prst="ellipse">
            <a:avLst/>
          </a:prstGeom>
          <a:solidFill>
            <a:srgbClr val="424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1005840" y="4846320"/>
            <a:ext cx="0" cy="41148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371600" y="45720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15주 · 6/4–6/9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4572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보고서 초고 · 발표자료 · 모의 발표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424160" y="4617720"/>
            <a:ext cx="1280160" cy="320040"/>
          </a:xfrm>
          <a:prstGeom prst="roundRect">
            <a:avLst>
              <a:gd name="adj" fmla="val 50000"/>
            </a:avLst>
          </a:prstGeom>
          <a:solidFill>
            <a:srgbClr val="424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424160" y="4617720"/>
            <a:ext cx="1280160" cy="32004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마무리</a:t>
            </a:r>
          </a:p>
        </p:txBody>
      </p:sp>
      <p:sp>
        <p:nvSpPr>
          <p:cNvPr id="37" name="Oval 36"/>
          <p:cNvSpPr/>
          <p:nvPr/>
        </p:nvSpPr>
        <p:spPr>
          <a:xfrm>
            <a:off x="914400" y="5239512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005840" y="5440680"/>
            <a:ext cx="0" cy="411479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371600" y="516635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14–15주 수업시간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0" y="5166359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최종 발표 (10분 + Q&amp;A 5분)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424160" y="5212080"/>
            <a:ext cx="1280160" cy="32004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424160" y="5212080"/>
            <a:ext cx="1280160" cy="32004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발표</a:t>
            </a:r>
          </a:p>
        </p:txBody>
      </p:sp>
      <p:sp>
        <p:nvSpPr>
          <p:cNvPr id="43" name="Oval 42"/>
          <p:cNvSpPr/>
          <p:nvPr/>
        </p:nvSpPr>
        <p:spPr>
          <a:xfrm>
            <a:off x="914400" y="5833872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371600" y="57607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16주 · 6/12 23:59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576072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LMS 최종 보고서 제출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424160" y="5806440"/>
            <a:ext cx="1280160" cy="32004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24160" y="5806440"/>
            <a:ext cx="1280160" cy="32004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마감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DECIDE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역할 분담 — 오늘 정한다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10881360" cy="6400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2677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이론·모델링 리드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240279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0B981"/>
                </a:solidFill>
                <a:latin typeface="맑은 고딕"/>
              </a:rPr>
              <a:t>이승현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2860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이미 진행 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16352"/>
            <a:ext cx="108813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8094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설문 설계·배포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980944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B95A7"/>
                </a:solidFill>
                <a:latin typeface="맑은 고딕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999232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Forms·Streamlit 운영, 단톡 배포 주도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529584"/>
            <a:ext cx="108813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6941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데이터 분석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694176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B95A7"/>
                </a:solidFill>
                <a:latin typeface="맑은 고딕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3712463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응답 통계 분석 (코드 템플릿 있음)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42816"/>
            <a:ext cx="108813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407407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시뮬·그래프 확장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4407407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B95A7"/>
                </a:solidFill>
                <a:latin typeface="맑은 고딕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4425696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T2/T3 코드 실행 및 결과 해석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956048"/>
            <a:ext cx="108813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1206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디자인·발표자료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5120640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B95A7"/>
                </a:solidFill>
                <a:latin typeface="맑은 고딕"/>
              </a:rPr>
              <a:t>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5138928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PPT 제작 (코드 불필요)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669280"/>
            <a:ext cx="108813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83387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보고서 종합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5833872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B95A7"/>
                </a:solidFill>
                <a:latin typeface="맑은 고딕"/>
              </a:rPr>
              <a:t>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5852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10쪽 보고서 총괄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오늘 끝내야 하는 것 4가지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40279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4F46E5"/>
                </a:solidFill>
                <a:latin typeface="맑은 고딕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1945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역할 분담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651760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위 6개 역할을 누가 어떻게 나눌지 합의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3063239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68680" y="320040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4F46E5"/>
                </a:solidFill>
                <a:latin typeface="맑은 고딕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1546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정기 회의 시간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611880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When2meet 결과를 보고 주 1회 시간 확정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0080" y="40233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68680" y="416052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4F46E5"/>
                </a:solidFill>
                <a:latin typeface="맑은 고딕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11480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GitHub 아이디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72000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팀원 5명 GitHub 아이디 공유 → 저장소 초대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0080" y="49834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68680" y="512064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4F46E5"/>
                </a:solidFill>
                <a:latin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0749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설문 배포 시점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532120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5/13~5/19 중 단톡 배포 일자 합의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6035040"/>
            <a:ext cx="10881360" cy="54864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614476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+ 이번 주 안에: 각자 개인과제 PDF 자료실 업로드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B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194560"/>
            <a:ext cx="54864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FINAL THOUGHT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8892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FFFFFF"/>
                </a:solidFill>
                <a:latin typeface="맑은 고딕"/>
              </a:rPr>
              <a:t>이미 절반은 되어 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8B95A7"/>
                </a:solidFill>
                <a:latin typeface="맑은 고딕"/>
              </a:rPr>
              <a:t>남은 한 달, 우리는 검증에만 집중한다.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6355080"/>
            <a:ext cx="10881360" cy="0"/>
          </a:xfrm>
          <a:prstGeom prst="line">
            <a:avLst/>
          </a:prstGeom>
          <a:ln w="19050">
            <a:solidFill>
              <a:srgbClr val="353B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6446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