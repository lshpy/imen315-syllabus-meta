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334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36391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66744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69663"/>
            <a:ext cx="91440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0016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202936"/>
            <a:ext cx="91440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7332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017520"/>
            <a:ext cx="396274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103120"/>
            <a:ext cx="91440" cy="1965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7" name="Picture 16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017520"/>
            <a:ext cx="248763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79"/>
            <a:ext cx="91440" cy="19659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19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3" name="Picture 22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212079"/>
            <a:ext cx="2873829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4297679"/>
            <a:ext cx="91440" cy="1965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29" name="Picture 28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212079"/>
            <a:ext cx="3345316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"출석 예정일 외에도 임의로 체크"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65760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학생은 "오늘 안 가면 잡힐까" 알 수 없다.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슬롯머신과 같은 원리로 매일 출석하게 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굳어져 한 학기 내내 유지된다.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시뮬레이션 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월요일만 체크하면 출석률 6.7%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랜덤+비공개로 하면 20% (3배 ↑)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62636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6263640"/>
            <a:ext cx="18288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검증할 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"기말고사 1회 40%"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3월에 배운 걸 6월 시험에서 떠올려야 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80일이 지나 기억은 거의 사라진 상태.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결국 시험 직전 벼락치기.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시뮬레이션 — 시험장 인출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단일 기말: 7.4초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격주 퀴즈: 2.2초 (3.4배 빠름)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0" name="Picture 9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"팀장이 2명 직접 지명"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후보가 많으면 머리에 다 들어오지 않는다.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떠오르는 친한 사람으로 결정한다.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친분 기반 팀, 역량 균형이 깨진다.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시뮬레이션 — 팀 만족도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 15명, 정보 X: 70% 이하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프로필 카드 제공: 92%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3" name="Picture 12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"+10 가산" vs "감점"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749039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+10은 명확한 보상.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감점은 기준이 모호한 위협.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학생은 모호한 위협에 더 강하게 회피한다.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 결과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 보고 자원: 적당함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감점 피하려 자원: 약 2배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감점 그룹 응답이 +10 그룹보다 약 2배 더 강한 의도 (Cohen's d ≈ 0.5+)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N=3·7 그룹은 만족도 5~6점, N=15 그룹은 4점 이하로 급감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결석 의도: 고정 매주월 &gt; 랜덤 빈도공개 &gt; 랜덤 비공개 순서로 감소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제안하는 개선안 3가지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강의계획서의 4가지 규칙을 분석해보니, 이론에서 자동으로 개선안이 도출됩니다.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606040"/>
            <a:ext cx="3566160" cy="548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분산 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46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격주 퀴즈 6회 + 기말 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03320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기말 한 번이 아니라 격주마다 작은 퀴즈로 나누어 본다.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4846320"/>
            <a:ext cx="3108959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49377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F59E0B"/>
                </a:solidFill>
                <a:latin typeface="맑은 고딕"/>
              </a:rPr>
              <a:t>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21208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기억이 사라지기 전에 다시 인출 → 학기말 벼락치기 방지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5989320"/>
            <a:ext cx="3108959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68680" y="6035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F59E0B"/>
                </a:solidFill>
                <a:latin typeface="맑은 고딕"/>
              </a:rPr>
              <a:t>근거 이론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Forgetting Curve · 분산 학습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260604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0" y="2606040"/>
            <a:ext cx="3566160" cy="5486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26974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프로필 카드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246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후보별 4가지 정보를 시각화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703320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팀장이 후보 평가할 때 역량·시간·관심·경험을 카드로 제공.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17720" y="4846320"/>
            <a:ext cx="3108959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617720" y="49377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4F46E5"/>
                </a:solidFill>
                <a:latin typeface="맑은 고딕"/>
              </a:rPr>
              <a:t>효과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1208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머리에 다 담을 필요 없이 외부 인터페이스로 비교 가능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17720" y="5989320"/>
            <a:ext cx="3108959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617720" y="6035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4F46E5"/>
                </a:solidFill>
                <a:latin typeface="맑은 고딕"/>
              </a:rPr>
              <a:t>근거 이론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6309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Working Memory · 7±2 한계 우회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59" y="260604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59" y="2606040"/>
            <a:ext cx="3566160" cy="548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59" y="26974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39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명확한 가산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59" y="3246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감점 표현 → +10 가산으로 통일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59" y="3703320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모호한 "현저히 낮은 경우 감점" 대신 명확한 가산만 사용.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66759" y="4846320"/>
            <a:ext cx="31089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366759" y="49377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EC4899"/>
                </a:solidFill>
                <a:latin typeface="맑은 고딕"/>
              </a:rPr>
              <a:t>효과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59" y="521208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학생이 모호한 위협 회피가 아니라 보상으로 동기 부여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366759" y="5989320"/>
            <a:ext cx="31089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366759" y="6035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EC4899"/>
                </a:solidFill>
                <a:latin typeface="맑은 고딕"/>
              </a:rPr>
              <a:t>근거 이론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59" y="6309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Framing Effect · 손실 회피 제거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583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T1 설문은 이 개선안이 학생 인식을 바꾸는지, T2 시뮬은 약한 학생도 도와주는지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인트로 / 출석 시나리오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21</a:t>
            </a:r>
          </a:p>
        </p:txBody>
      </p:sp>
      <p:pic>
        <p:nvPicPr>
          <p:cNvPr id="7" name="Picture 6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인트로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16 유형 미리 보여주고 닉네임 입력 후 시작</a:t>
            </a:r>
          </a:p>
        </p:txBody>
      </p:sp>
      <p:pic>
        <p:nvPicPr>
          <p:cNvPr id="10" name="Picture 9" descr="02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3개 정책에서 각각 결석 의도를 골라요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팀장 인센티브 / 팀원 지명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pic>
        <p:nvPicPr>
          <p:cNvPr id="7" name="Picture 6" descr="03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응답자 절반은 +10 가산, 절반은 모호한 감점 표현</a:t>
            </a:r>
          </a:p>
        </p:txBody>
      </p:sp>
      <p:pic>
        <p:nvPicPr>
          <p:cNvPr id="10" name="Picture 9" descr="04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후보 N명 중 2명 지명 (강의계획서 규칙)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분석 질문: 개선안이 약한 학생도 도와주는가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입력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 중 1명을 어떻게 설정하는가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1000명을 모두 똑같이 만들면 의미 없음. 학생마다 인지 능력이 다르게 무작위 배정함.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5486400" cy="393192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예시 학생 #1 · '김민준'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코드가 1000명을 만들 때 첫 번째 학생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3520440"/>
            <a:ext cx="50749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8680" y="36576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학습률 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576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평균(0.15)보다 약간 높음 — 새 경험을 빨리 받아들임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망각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낮음 — 기억이 천천히 사라짐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292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작업 기억 WM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8 chunks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평균(7)보다 1 큼 — 한 번에 더 많이 처리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7150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동기 motivation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715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높음 — 자발적 학습 의지 있음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어떻게 무작위 추출하는가 (실제 코드)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rng = np.random.default_rng(42)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alpha = rng.normal(0.15, 0.05)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d     = rng.normal(0.50, 0.10)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   = rng.choice([5,6,7,8,9])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motiv = rng.normal(0.50, 0.20)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0" y="4526280"/>
            <a:ext cx="51206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0" y="4663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1000명 각자 다른 4가지 속성 조합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0292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김민준 같은 학생은 잘 적응한다.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반면 α=0.08, WM=5인 학생은 같은 강의계획서에서 훨씬 큰 어려움을 겪는다.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 중 가장 약한 25%가 보호되는지를 본다.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이 설정값은 문헌 표준값 · T1 설문으로 본 강 학생 실제 값을 수집해 보정 예정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결과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평균만 보면 가려지는 진실 — 분포 효과 차트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같은 강의계획서를 받아도 학생마다 결과가 다르다. 평균보다 "가장 약한 학생"에서 차이가 크다.</a:t>
            </a:r>
          </a:p>
        </p:txBody>
      </p:sp>
      <p:pic>
        <p:nvPicPr>
          <p:cNvPr id="8" name="Picture 7" descr="char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6400800" cy="355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69480" y="2606040"/>
            <a:ext cx="4297680" cy="3840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2743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두 학생을 따라가 봅시다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154680"/>
            <a:ext cx="3931920" cy="14173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3246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🟢 김민준 (평균 학생)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5661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12.5초만에 답 떠올림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10.2초 (조금 빨라짐)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4663440"/>
            <a:ext cx="3931920" cy="141732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4754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🔴 홍길동 (약한 학생)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0749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22.3초 (1.8배 손해)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13.5초 (대폭 개선)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6172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→ 같은 개선안인데 효과는 약한 학생에게 더 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37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결국 우리가 보는 것: 강의계획서가 누구를 가장 힘들게 하는가, 개선안이 그걸 줄이는가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5가지 선택 방식이 만들어내는 그림이 진짜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pic>
        <p:nvPicPr>
          <p:cNvPr id="7" name="Picture 6" descr="char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10972800" cy="37901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한눈에 보이는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왼쪽 (친분 우선): 팀장 주변 노드만 분홍색. 친한 사람만 뽑힘.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오른쪽 (프로필 카드): 그래프 전체에 골고루 분포. 다양한 역량 확보.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