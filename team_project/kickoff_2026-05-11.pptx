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94560"/>
            <a:ext cx="54864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IMEN315 인간공학 · 1차 킥오프 · 2026.05.11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FFFFFF"/>
                </a:solidFill>
                <a:latin typeface="맑은 고딕"/>
              </a:rPr>
              <a:t>강의계획서의 인지·행동 유도 메커니즘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FFFFFF"/>
                </a:solidFill>
                <a:latin typeface="맑은 고딕"/>
              </a:rPr>
              <a:t>인간공학적 역(逆)분석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8B95A7"/>
                </a:solidFill>
                <a:latin typeface="맑은 고딕"/>
              </a:rPr>
              <a:t>수업에서 배운 이론을 바로 그 수업의 강의계획서에 적용해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B95A7"/>
                </a:solidFill>
                <a:latin typeface="맑은 고딕"/>
              </a:rPr>
              <a:t>학생 행동을 정량 예측하고 실제 학생들에게서 검증한다.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035040"/>
            <a:ext cx="10881360" cy="0"/>
          </a:xfrm>
          <a:prstGeom prst="line">
            <a:avLst/>
          </a:prstGeom>
          <a:ln w="12700">
            <a:solidFill>
              <a:srgbClr val="353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팀장 이승현 · 산업경영공학부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6172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오형석 교수 · 2026 봄학기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우리가 답하려는 핵심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[Q1]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F141F"/>
                </a:solidFill>
                <a:latin typeface="맑은 고딕"/>
              </a:rPr>
              <a:t>강의계획서의 4가지 설계 요소가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4F46E5"/>
                </a:solidFill>
                <a:latin typeface="맑은 고딕"/>
              </a:rPr>
              <a:t>인간공학 이론이 예측한 학생 행동을 실제로 유발하는가?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402336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맑은 고딕"/>
              </a:rPr>
              <a:t>[Q2]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F141F"/>
                </a:solidFill>
                <a:latin typeface="맑은 고딕"/>
              </a:rPr>
              <a:t>이론적 개선안 (분산 평가 · 프로필 카드 · gain frame)이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EC4899"/>
                </a:solidFill>
                <a:latin typeface="맑은 고딕"/>
              </a:rPr>
              <a:t>행동 패턴을 의도된 방향으로 변화시키는가?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→ 답 = 이론 적용 깊이 × 검증 견고성 → 30점 핵심 항목 직격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강의계획서가 학생에게 강요하는 규칙 4가지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0B981"/>
                </a:solidFill>
                <a:latin typeface="맑은 고딕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3317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F141F"/>
                </a:solidFill>
                <a:latin typeface="맑은 고딕"/>
              </a:rPr>
              <a:t>랜덤 출석 확인 (10%)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예정일 외에도 임의로 출석 확인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3474720"/>
            <a:ext cx="489204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5661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0B981"/>
                </a:solidFill>
                <a:latin typeface="맑은 고딕"/>
              </a:rPr>
              <a:t>→ 매일 출석 강박 발생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2139696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2103120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3317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9E0B"/>
                </a:solidFill>
                <a:latin typeface="맑은 고딕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3317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F141F"/>
                </a:solidFill>
                <a:latin typeface="맑은 고딕"/>
              </a:rPr>
              <a:t>단일 기말고사 (40%)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718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중간고사 폐지, 8주차 휴강, 6/17 1회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37960" y="3474720"/>
            <a:ext cx="489204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37960" y="35661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59E0B"/>
                </a:solidFill>
                <a:latin typeface="맑은 고딕"/>
              </a:rPr>
              <a:t>→ 학기말 학습 시간 폭증 (벼락치기)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334255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297679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26279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4F46E5"/>
                </a:solidFill>
                <a:latin typeface="맑은 고딕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52627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F141F"/>
                </a:solidFill>
                <a:latin typeface="맑은 고딕"/>
              </a:rPr>
              <a:t>팀장 직접 지명 (최대 2명)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66359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지원서 미제출 시 자동 배정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5669279"/>
            <a:ext cx="489204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5760719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46E5"/>
                </a:solidFill>
                <a:latin typeface="맑은 고딕"/>
              </a:rPr>
              <a:t>→ 친분 기반 팀 구성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334255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4297679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526279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C4899"/>
                </a:solidFill>
                <a:latin typeface="맑은 고딕"/>
              </a:rPr>
              <a:t>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52627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F141F"/>
                </a:solidFill>
                <a:latin typeface="맑은 고딕"/>
              </a:rPr>
              <a:t>차등 인센티브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166359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팀장 +10점, 기여 저조 시 감점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37960" y="5669279"/>
            <a:ext cx="489204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37960" y="5760719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C4899"/>
                </a:solidFill>
                <a:latin typeface="맑은 고딕"/>
              </a:rPr>
              <a:t>→ 무임승차·최소 기여 수렴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EXPECTED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강의계획서가 유발하는 4가지 행동 패턴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F141F"/>
                </a:solidFill>
                <a:latin typeface="맑은 고딕"/>
              </a:rPr>
              <a:t>출석 habituation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랜덤 체크에 적응 → 매일 출석 → 후반부 이탈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95727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0B981"/>
                </a:solidFill>
                <a:latin typeface="맑은 고딕"/>
              </a:rPr>
              <a:t>출석률 6.7% → 20% (3×)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172968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136391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36391"/>
            <a:ext cx="10972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0098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F141F"/>
                </a:solidFill>
                <a:latin typeface="맑은 고딕"/>
              </a:rPr>
              <a:t>학기말 벼락치기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85031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기억 활성화가 학기 초 내용에서 급락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428999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59E0B"/>
                </a:solidFill>
                <a:latin typeface="맑은 고딕"/>
              </a:rPr>
              <a:t>인출 시간 7.4초 → 2.2초 (3.4×)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4206240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169663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169663"/>
            <a:ext cx="109728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34255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F141F"/>
                </a:solidFill>
                <a:latin typeface="맑은 고딕"/>
              </a:rPr>
              <a:t>친분 기반 satisficing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18303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후보 평가의 작업 기억 한계 초과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46227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46E5"/>
                </a:solidFill>
                <a:latin typeface="맑은 고딕"/>
              </a:rPr>
              <a:t>N&gt;8에서 평가 완성도 70%↓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5239512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202936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202936"/>
            <a:ext cx="109728" cy="914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67527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F141F"/>
                </a:solidFill>
                <a:latin typeface="맑은 고딕"/>
              </a:rPr>
              <a:t>최소 기여 수렴 (무임승차)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51575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모호한 loss frame 회피 → 책임 회피 강함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49554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C4899"/>
                </a:solidFill>
                <a:latin typeface="맑은 고딕"/>
              </a:rPr>
              <a:t>모호한 감점 표현이 +10 가산보다 자원 의도 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수업에서 배운 이론 4개로 정확히 예측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03120"/>
            <a:ext cx="51663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3317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효용 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2788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수업 6주차 · Skinner</a:t>
            </a:r>
          </a:p>
        </p:txBody>
      </p:sp>
      <p:pic>
        <p:nvPicPr>
          <p:cNvPr id="12" name="Picture 11" descr="f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9" y="3108960"/>
            <a:ext cx="3602491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19" y="3657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0B981"/>
                </a:solidFill>
                <a:latin typeface="맑은 고딕"/>
              </a:rPr>
              <a:t>가변비율 강화 — 슬롯머신 원리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2139696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2103120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103120"/>
            <a:ext cx="51663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317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망각 곡선 + 활성화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88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수업 5–7주차 · Ebbinghaus + Anderson</a:t>
            </a:r>
          </a:p>
        </p:txBody>
      </p:sp>
      <p:pic>
        <p:nvPicPr>
          <p:cNvPr id="19" name="Picture 18" descr="f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08960"/>
            <a:ext cx="2261481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83680" y="3657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59E0B"/>
                </a:solidFill>
                <a:latin typeface="맑은 고딕"/>
              </a:rPr>
              <a:t>분산 학습이 인출을 가속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334255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297679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297679"/>
            <a:ext cx="516636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452627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작업 기억 + 만족화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19" y="4983479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수업 12주차 · Miller(1956) + Simon(1956)</a:t>
            </a:r>
          </a:p>
        </p:txBody>
      </p:sp>
      <p:pic>
        <p:nvPicPr>
          <p:cNvPr id="26" name="Picture 25" descr="f_w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19" y="5303519"/>
            <a:ext cx="2612571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0119" y="585215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F46E5"/>
                </a:solidFill>
                <a:latin typeface="맑은 고딕"/>
              </a:rPr>
              <a:t>한계 초과 시 직관·친분으로 후퇴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334255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4297679"/>
            <a:ext cx="5440680" cy="196596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297679"/>
            <a:ext cx="516636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52627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표현 효과 + 손실 회피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983479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Tversky &amp; Kahneman (1981)</a:t>
            </a:r>
          </a:p>
        </p:txBody>
      </p:sp>
      <p:pic>
        <p:nvPicPr>
          <p:cNvPr id="33" name="Picture 32" descr="f_fram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303519"/>
            <a:ext cx="3041196" cy="457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83680" y="585215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C4899"/>
                </a:solidFill>
                <a:latin typeface="맑은 고딕"/>
              </a:rPr>
              <a:t>동일 결과도 손실 표현이 더 강함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F46E5"/>
                </a:solidFill>
                <a:latin typeface="맑은 고딕"/>
              </a:rPr>
              <a:t>→ 다음 4장에서 각 이론을 자세히 풀어봅니다.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THEORY 1 / 4 · 직관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보상이 가끔, 무작위로 나올 때 행동이 가장 잘 굳는다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0B981"/>
                </a:solidFill>
                <a:latin typeface="맑은 고딕"/>
              </a:rPr>
              <a:t>쉽게 말하면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사람은 보상을 받으면 그 행동을 또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424B5C"/>
                </a:solidFill>
                <a:latin typeface="맑은 고딕"/>
              </a:rPr>
              <a:t>근데 보상이 "언제 나올지 모르게" 띄엄띄엄 나올 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0B981"/>
                </a:solidFill>
                <a:latin typeface="맑은 고딕"/>
              </a:rPr>
              <a:t>그 행동이 가장 강하게, 가장 오래 굳는다.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이런 거랑 똑같아요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5111496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07492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074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0F141F"/>
                </a:solidFill>
                <a:latin typeface="맑은 고딕"/>
              </a:rPr>
              <a:t>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52852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0B981"/>
                </a:solidFill>
                <a:latin typeface="맑은 고딕"/>
              </a:rPr>
              <a:t>슬롯머신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60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당첨이 가끔, 언제 나올지 모름.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끊기 어려움.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5111496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507492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5074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5257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0F141F"/>
                </a:solidFill>
                <a:latin typeface="맑은 고딕"/>
              </a:rP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79" y="52852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0B981"/>
                </a:solidFill>
                <a:latin typeface="맑은 고딕"/>
              </a:rPr>
              <a:t>인스타·SNS 알림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760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좋아요·댓글이 무작위 시점에 옴.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계속 확인하게 됨.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1" y="5111496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59" y="507492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5074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5257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0F141F"/>
                </a:solidFill>
                <a:latin typeface="맑은 고딕"/>
              </a:rPr>
              <a:t>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52852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0B981"/>
                </a:solidFill>
                <a:latin typeface="맑은 고딕"/>
              </a:rPr>
              <a:t>가챠 게임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5760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확률 뽑기. 다음 판에 나올 수도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있다는 기대 → 멈출 수 없음.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THEORY 1 / 4 ·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효용 학습 — 공식과 강의계획서 적용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0B981"/>
                </a:solidFill>
                <a:latin typeface="맑은 고딕"/>
              </a:rPr>
              <a:t>수업 6주차 · 가변비율 강화 (Variable-Ratio Reinforcement)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551176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B95A7"/>
                </a:solidFill>
                <a:latin typeface="맑은 고딕"/>
              </a:rPr>
              <a:t>핵심 공식</a:t>
            </a:r>
          </a:p>
        </p:txBody>
      </p:sp>
      <p:pic>
        <p:nvPicPr>
          <p:cNvPr id="11" name="Picture 10" descr="f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17520"/>
            <a:ext cx="5043488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9319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변수 의미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976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0B981"/>
                </a:solidFill>
                <a:latin typeface="맑은 고딕"/>
              </a:rPr>
              <a:t>U(n)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2976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n번째 시행 후 행동 효용 (출석할 가치)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091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0B981"/>
                </a:solidFill>
                <a:latin typeface="맑은 고딕"/>
              </a:rPr>
              <a:t>R(n)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7091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이번 시행의 보상 (출석 체크 ⇒ +1 / 결석 적발 ⇒ −1)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206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0B981"/>
                </a:solidFill>
                <a:latin typeface="맑은 고딕"/>
              </a:rPr>
              <a:t>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1206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학습률 (≈0.15) — 새 경험을 얼마나 받아들이는가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비유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9893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슬롯머신 — 보상이 "가끔" 무작위로 주어질 때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행동이 가장 강하게 굳어짐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2551176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2514600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0B981"/>
                </a:solidFill>
                <a:latin typeface="맑은 고딕"/>
              </a:rPr>
              <a:t>강의계획서가 만드는 효과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54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"임의로 출석 체크"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84048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오늘 안 가면 잡힐지 학생은 모른다.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슬롯머신과 같은 원리로 매일 출석한다.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학기 내내 같은 행동이 이어진다.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92240" y="5349240"/>
            <a:ext cx="484632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92240" y="5440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0B981"/>
                </a:solidFill>
                <a:latin typeface="맑은 고딕"/>
              </a:rPr>
              <a:t>시뮬레이션 예측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852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고정 일정: 출석률 6.7%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6263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랜덤+비공개: 20% (3배)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THEORY 2 / 4 · 직관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한 번 본 건 잊히고, 자주 나눠서 보면 오래 남는다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9E0B"/>
                </a:solidFill>
                <a:latin typeface="맑은 고딕"/>
              </a:rPr>
              <a:t>쉽게 말하면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기억은 시간이 지나면 사라진다.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424B5C"/>
                </a:solidFill>
                <a:latin typeface="맑은 고딕"/>
              </a:rPr>
              <a:t>근데 "여러 번에 나눠서" 학습하면 사라지는 속도가 느려진다.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9E0B"/>
                </a:solidFill>
                <a:latin typeface="맑은 고딕"/>
              </a:rPr>
              <a:t>한 번에 몰아 학습한 것은 시험장에서 안 떠오른다.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이런 경험 다들 있죠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5111496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07492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07492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0F141F"/>
                </a:solidFill>
                <a:latin typeface="맑은 고딕"/>
              </a:rP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52852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9E0B"/>
                </a:solidFill>
                <a:latin typeface="맑은 고딕"/>
              </a:rPr>
              <a:t>벼락치기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60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시험 전날 6시간 공부 →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시험장에서 "분명 봤는데..."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5111496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507492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507492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5257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0F141F"/>
                </a:solidFill>
                <a:latin typeface="맑은 고딕"/>
              </a:rPr>
              <a:t>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79" y="52852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9E0B"/>
                </a:solidFill>
                <a:latin typeface="맑은 고딕"/>
              </a:rPr>
              <a:t>노래 가사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760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한 번 들으면 잊지만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10번 띄엄띄엄 들으면 외워짐.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1" y="5111496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59" y="507492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507492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5257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0F141F"/>
                </a:solidFill>
                <a:latin typeface="맑은 고딕"/>
              </a:rPr>
              <a:t>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52852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9E0B"/>
                </a:solidFill>
                <a:latin typeface="맑은 고딕"/>
              </a:rPr>
              <a:t>어릴 때 배운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5760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오래전에 자주 배워서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지금까지 안 잊혀짐.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THEORY 2 / 4 ·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망각 곡선 — 공식과 강의계획서 적용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9E0B"/>
                </a:solidFill>
                <a:latin typeface="맑은 고딕"/>
              </a:rPr>
              <a:t>수업 5–7주차 · Base-level Activation (Anderson)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551176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B95A7"/>
                </a:solidFill>
                <a:latin typeface="맑은 고딕"/>
              </a:rPr>
              <a:t>핵심 공식</a:t>
            </a:r>
          </a:p>
        </p:txBody>
      </p:sp>
      <p:pic>
        <p:nvPicPr>
          <p:cNvPr id="11" name="Picture 10" descr="f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3392222" cy="68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9319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변수 의미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9768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9E0B"/>
                </a:solidFill>
                <a:latin typeface="맑은 고딕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2976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청크의 활성도 (높을수록 잘 떠오름)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9E0B"/>
                </a:solidFill>
                <a:latin typeface="맑은 고딕"/>
              </a:rPr>
              <a:t>t_j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68172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j번째 학습 후 경과 시간 (일)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6577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9E0B"/>
                </a:solidFill>
                <a:latin typeface="맑은 고딕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065776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망각 속도 (≈0.5)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4982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9E0B"/>
                </a:solidFill>
                <a:latin typeface="맑은 고딕"/>
              </a:rPr>
              <a:t>T_retrieval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5449824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시험장에서 그 청크 떠올리는 시간 (초)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핵심: 자주·분산해서 학습할수록 B가 커지고 T가 짧아짐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2551176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2514600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9E0B"/>
                </a:solidFill>
                <a:latin typeface="맑은 고딕"/>
              </a:rPr>
              <a:t>강의계획서가 만드는 효과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54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"기말고사 1회 40%"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3월에 배운 걸 6월 시험에서 떠올려야 한다.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80일이 지나 기억은 거의 사라진 상태.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결국 시험 직전 벼락치기.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92240" y="5349240"/>
            <a:ext cx="4846320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92240" y="5440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9E0B"/>
                </a:solidFill>
                <a:latin typeface="맑은 고딕"/>
              </a:rPr>
              <a:t>시뮬레이션 — 시험장 인출 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852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단일 기말: 7.4초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6263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격주 퀴즈: 2.2초 (3.4배 빠름)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THEORY 3 / 4 · 직관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사람 머리는 한 번에 7개만 비교 가능, 그 이상은 대충 결정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F46E5"/>
                </a:solidFill>
                <a:latin typeface="맑은 고딕"/>
              </a:rPr>
              <a:t>쉽게 말하면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사람은 동시에 여러 정보를 못 비교한다.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424B5C"/>
                </a:solidFill>
                <a:latin typeface="맑은 고딕"/>
              </a:rPr>
              <a:t>정보가 많아지면 "최적" 대신 "그럭저럭 괜찮은" 첫 번째 옵션에서 멈춘다.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4F46E5"/>
                </a:solidFill>
                <a:latin typeface="맑은 고딕"/>
              </a:rPr>
              <a:t>이걸 만족화 (Satisficing) 라고 한다 — Simon이 노벨상 받은 개념.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일상에서 매일 일어나는 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5111496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07492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074920"/>
            <a:ext cx="32918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0F141F"/>
                </a:solidFill>
                <a:latin typeface="맑은 고딕"/>
              </a:rPr>
              <a:t>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52852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F46E5"/>
                </a:solidFill>
                <a:latin typeface="맑은 고딕"/>
              </a:rPr>
              <a:t>카페 메뉴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60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메뉴 3개면 다 비교.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메뉴 30개면 "그냥 라떼"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5111496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507492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5074920"/>
            <a:ext cx="32918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5257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0F141F"/>
                </a:solidFill>
                <a:latin typeface="맑은 고딕"/>
              </a:rPr>
              <a:t>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79" y="52852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F46E5"/>
                </a:solidFill>
                <a:latin typeface="맑은 고딕"/>
              </a:rPr>
              <a:t>쇼핑몰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760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비슷한 상품 50개 →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중간 가격 첫 번째 클릭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1" y="5111496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59" y="507492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5074920"/>
            <a:ext cx="32918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5257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0F141F"/>
                </a:solidFill>
                <a:latin typeface="맑은 고딕"/>
              </a:rPr>
              <a:t>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52852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F46E5"/>
                </a:solidFill>
                <a:latin typeface="맑은 고딕"/>
              </a:rPr>
              <a:t>팀 멤버 뽑기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5760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후보 15명? → 떠오르는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친한 5명으로 결정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THEORY 3 / 4 ·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작업 기억 — 7±2와 강의계획서 적용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F46E5"/>
                </a:solidFill>
                <a:latin typeface="맑은 고딕"/>
              </a:rPr>
              <a:t>수업 12주차 · Bounded Rationality (제한된 합리성)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551176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8B95A7"/>
                </a:solidFill>
                <a:latin typeface="맑은 고딕"/>
              </a:rPr>
              <a:t>두 가지 원리</a:t>
            </a:r>
          </a:p>
        </p:txBody>
      </p:sp>
      <p:pic>
        <p:nvPicPr>
          <p:cNvPr id="11" name="Picture 10" descr="f_w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17520"/>
            <a:ext cx="2873829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3657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41F"/>
                </a:solidFill>
                <a:latin typeface="맑은 고딕"/>
              </a:rPr>
              <a:t>한계 초과 시 만족화(Satisficing)로 후퇴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41F"/>
                </a:solidFill>
                <a:latin typeface="맑은 고딕"/>
              </a:rPr>
              <a:t>만족화란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006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24B5C"/>
                </a:solidFill>
                <a:latin typeface="맑은 고딕"/>
              </a:rPr>
              <a:t>최적 선택을 포기하고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424B5C"/>
                </a:solidFill>
                <a:latin typeface="맑은 고딕"/>
              </a:rPr>
              <a:t>첫 번째로 "괜찮은" 옵션에서 멈춘다.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41F"/>
                </a:solidFill>
                <a:latin typeface="맑은 고딕"/>
              </a:rPr>
              <a:t>비유 — 카페 메뉴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309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B95A7"/>
                </a:solidFill>
                <a:latin typeface="맑은 고딕"/>
              </a:rPr>
              <a:t>메뉴 3개면 다 비교. 메뉴 30개면 그냥 라떼.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551176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2514600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EEEAFE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4F46E5"/>
                </a:solidFill>
                <a:latin typeface="맑은 고딕"/>
              </a:rPr>
              <a:t>강의계획서가 만드는 효과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F141F"/>
                </a:solidFill>
                <a:latin typeface="맑은 고딕"/>
              </a:rPr>
              <a:t>"팀장이 2명 직접 지명"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4048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24B5C"/>
                </a:solidFill>
                <a:latin typeface="맑은 고딕"/>
              </a:rPr>
              <a:t>후보가 많으면 머리에 다 들어오지 않는다.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424B5C"/>
                </a:solidFill>
                <a:latin typeface="맑은 고딕"/>
              </a:rPr>
              <a:t>떠오르는 친한 사람으로 결정한다.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424B5C"/>
                </a:solidFill>
                <a:latin typeface="맑은 고딕"/>
              </a:rPr>
              <a:t>친분 기반 팀, 역량 균형이 깨진다.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92240" y="5440680"/>
            <a:ext cx="4846320" cy="0"/>
          </a:xfrm>
          <a:prstGeom prst="line">
            <a:avLst/>
          </a:prstGeom>
          <a:ln w="190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92240" y="5532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46E5"/>
                </a:solidFill>
                <a:latin typeface="맑은 고딕"/>
              </a:rPr>
              <a:t>시뮬레이션 — 팀 만족도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943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24B5C"/>
                </a:solidFill>
                <a:latin typeface="맑은 고딕"/>
              </a:rPr>
              <a:t>정보 없이 15명 중: 70% 이하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프로필 카드 제공: 92%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6263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F141F"/>
                </a:solidFill>
                <a:latin typeface="맑은 고딕"/>
              </a:rPr>
              <a:t>프로필 카드 제공: 92%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THEORY 4 / 4 · 직관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같은 결과도 "이득" vs "손실" 표현에 따라 반응이 다르다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C4899"/>
                </a:solidFill>
                <a:latin typeface="맑은 고딕"/>
              </a:rPr>
              <a:t>쉽게 말하면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사람은 "잃는 것"을 "얻는 것"보다 약 2배 더 강하게 느낀다.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424B5C"/>
                </a:solidFill>
                <a:latin typeface="맑은 고딕"/>
              </a:rPr>
              <a:t>그래서 같은 -10점도 "가산점 없음"보다 "감점"이라 하면 훨씬 무서움.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C4899"/>
                </a:solidFill>
                <a:latin typeface="맑은 고딕"/>
              </a:rPr>
              <a:t>→ 똑같은 정책도 표현 방식만 바꾸면 행동이 달라진다.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이런 차이 다들 느껴봤을 거예요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5111496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507492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074920"/>
            <a:ext cx="329184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0F141F"/>
                </a:solidFill>
                <a:latin typeface="맑은 고딕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52852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C4899"/>
                </a:solidFill>
                <a:latin typeface="맑은 고딕"/>
              </a:rPr>
              <a:t>할인 vs 추가요금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60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"5% 할인" 좋아하지만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"5% 추가"는 짜증.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5111496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507492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5074920"/>
            <a:ext cx="329184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5257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0F141F"/>
                </a:solidFill>
                <a:latin typeface="맑은 고딕"/>
              </a:rPr>
              <a:t>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79" y="52852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C4899"/>
                </a:solidFill>
                <a:latin typeface="맑은 고딕"/>
              </a:rPr>
              <a:t>수술 성공률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760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"90% 성공" → 받음.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"10% 사망" → 거부.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1" y="5111496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59" y="507492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5074920"/>
            <a:ext cx="329184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5257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0F141F"/>
                </a:solidFill>
                <a:latin typeface="맑은 고딕"/>
              </a:rPr>
              <a:t>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52852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C4899"/>
                </a:solidFill>
                <a:latin typeface="맑은 고딕"/>
              </a:rPr>
              <a:t>교통카드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57607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"적립 0원"보다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"수수료 100원"이 화남.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THEORY 4 / 4 ·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표현 방식 효과 — 공식과 강의계획서 적용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C4899"/>
                </a:solidFill>
                <a:latin typeface="맑은 고딕"/>
              </a:rPr>
              <a:t>Prospect Theory (1979) · Framing of Decisions (1981)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551176"/>
            <a:ext cx="5440680" cy="155448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5440680" cy="155448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B95A7"/>
                </a:solidFill>
                <a:latin typeface="맑은 고딕"/>
              </a:rPr>
              <a:t>핵심 원리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141F"/>
                </a:solidFill>
                <a:latin typeface="맑은 고딕"/>
              </a:rPr>
              <a:t>동일한 결과도 "이득"으로 표현 vs "손실"로 표현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141F"/>
                </a:solidFill>
                <a:latin typeface="맑은 고딕"/>
              </a:rPr>
              <a:t>→ 사람의 반응이 다르다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수치적 비대칭</a:t>
            </a:r>
          </a:p>
        </p:txBody>
      </p:sp>
      <p:pic>
        <p:nvPicPr>
          <p:cNvPr id="14" name="Picture 13" descr="f_fr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617720"/>
            <a:ext cx="3345316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5212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= 같은 −10원 손실이 +10원 이득보다 약 2배 강함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고전 실험 — Asian disease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217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동일 정책 → 표현만 바꿔도 선택률 72% vs 22%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551176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2514600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FDE8F5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C4899"/>
                </a:solidFill>
                <a:latin typeface="맑은 고딕"/>
              </a:rPr>
              <a:t>강의계획서가 만드는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546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"+10 가산" vs "감점"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49039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+10은 명확한 보상.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감점은 기준이 모호한 위협.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학생은 모호한 위협에 더 강하게 회피한다.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92240" y="5349240"/>
            <a:ext cx="4846320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92240" y="5440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맑은 고딕"/>
              </a:rPr>
              <a:t>예상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852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+10 보고 자원: 적당함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6263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감점 피하려 자원: 약 2배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T1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T1 설문 실험 — 정확히 무엇을 어떻게 하는가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한 응답자가 5분 안에 4가지 가상 상황을 마주합니다.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424B5C"/>
                </a:solidFill>
                <a:latin typeface="맑은 고딕"/>
              </a:rPr>
              <a:t>그 응답을 바탕으로 우리는 인간공학 이론 4개의 예측이 맞는지 검증합니다.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33756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3520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F46E5"/>
                </a:solidFill>
                <a:latin typeface="맑은 고딕"/>
              </a:rPr>
              <a:t>응답자 입장에서 진행되는 흐름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46E5"/>
                </a:solidFill>
                <a:latin typeface="맑은 고딕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319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931920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닉네임 + 학년 입력 (5초)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1596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46E5"/>
                </a:solidFill>
                <a:latin typeface="맑은 고딕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31596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출석 정책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315968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비 오는 화요일에 출석할지를 3 정책에서 답함 (within-subjects)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001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46E5"/>
                </a:solidFill>
                <a:latin typeface="맑은 고딕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700016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팀장 인센티브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70001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강의계획서의 gain·loss 표현 중 하나를 무작위로 보고 자원 의도 응답 (between)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8406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46E5"/>
                </a:solidFill>
                <a:latin typeface="맑은 고딕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08406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팀원 직접 지명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084064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후보 N명 중 2명 지명 — 친분 vs 역량 트레이드오프 (between)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6811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46E5"/>
                </a:solidFill>
                <a:latin typeface="맑은 고딕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46811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평가 체계 시뮬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468112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두 평가 체제에서 본인 학습시간 분포 추정 (within)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5216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46E5"/>
                </a:solidFill>
                <a:latin typeface="맑은 고딕"/>
              </a:rP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85216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결과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852160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Streamlit은 16 학습 MBTI 자동 진단 + 즉시 피드백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EC4899"/>
                </a:solidFill>
                <a:latin typeface="맑은 고딕"/>
              </a:rPr>
              <a:t>가장 중요한 것: 한 명의 응답이 H1·H2·H3·H4 4가지 가설을 동시에 검증하는 데이터가 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우리가 데이터로 검증할 4가지 가설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139696"/>
            <a:ext cx="10881360" cy="9601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0881360" cy="9601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377439"/>
            <a:ext cx="777240" cy="41148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39"/>
            <a:ext cx="777240" cy="41148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6771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C4899"/>
                </a:solidFill>
                <a:latin typeface="맑은 고딕"/>
              </a:rPr>
              <a:t>표현 방식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4203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모호한 감점 표현이 명확한 +10 가산보다 회피·자원 의도가 더 강하다.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1635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기대 결과 — 감점 그룹 응답이 +10 그룹보다 약 2배 더 강한 의도 (Cohen's d ≈ 0.5+)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3218687"/>
            <a:ext cx="10881360" cy="9601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182111"/>
            <a:ext cx="10881360" cy="9601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456431"/>
            <a:ext cx="777240" cy="4114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56431"/>
            <a:ext cx="777240" cy="41148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H2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46703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F46E5"/>
                </a:solidFill>
                <a:latin typeface="맑은 고딕"/>
              </a:rPr>
              <a:t>그럭저럭 만족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21023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후보 N이 7명을 넘어가면 팀 구성 만족도가 급격히 떨어진다.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895344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기대 결과 — N=3·7 그룹은 만족도 5~6점, N=15 그룹은 4점 이하로 급감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297680"/>
            <a:ext cx="10881360" cy="9601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261104"/>
            <a:ext cx="10881360" cy="9601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535424"/>
            <a:ext cx="777240" cy="4114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35424"/>
            <a:ext cx="777240" cy="41148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H3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42569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0B981"/>
                </a:solidFill>
                <a:latin typeface="맑은 고딕"/>
              </a:rPr>
              <a:t>효용 학습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700016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출석 정책이 무작위+비공개일수록 결석 의도가 가장 낮다.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974336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기대 결과 — 결석 의도: 고정 매주월 &gt; 랜덤 빈도공개 &gt; 랜덤 비공개 순서로 감소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" y="5376672"/>
            <a:ext cx="10881360" cy="9601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5340096"/>
            <a:ext cx="10881360" cy="96012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5614416"/>
            <a:ext cx="77724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614416"/>
            <a:ext cx="777240" cy="41148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H4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5046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9E0B"/>
                </a:solidFill>
                <a:latin typeface="맑은 고딕"/>
              </a:rPr>
              <a:t>망각 곡선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7790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단일 기말 체제는 격주 퀴즈 체제보다 학습시간 분산이 훨씬 크다.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605332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기대 결과 — 단일 기말: 8주차 5h, 15주차 15h (3배). 격주 퀴즈: 8주차·15주차 ≈ 9h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T1 · 시나리오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출석 정책에 따른 결석 의도 (within-subjects)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한 응답자가 3가지 가상 상황을 모두 평가 → 동일인 비교로 검정력 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548640" cy="4114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548640" cy="41148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70632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41F"/>
                </a:solidFill>
                <a:latin typeface="맑은 고딕"/>
              </a:rPr>
              <a:t>고정 — 매주 월요일 체크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54680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→ 응답: "이 정책에서 비 오는 날 결석할 의도" (1~7)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9864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10B981"/>
                </a:solidFill>
                <a:latin typeface="맑은 고딕"/>
              </a:rPr>
              <a:t>출석률 6.7% (예측)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61188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3977639"/>
            <a:ext cx="548640" cy="4114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548640" cy="41148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67911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41F"/>
                </a:solidFill>
                <a:latin typeface="맑은 고딕"/>
              </a:rPr>
              <a:t>랜덤 + 횟수 공지 (30회 중 7회)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51959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→ 응답: "이 정책에서 비 오는 날 결석할 의도" (1~7)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9592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4F46E5"/>
                </a:solidFill>
                <a:latin typeface="맑은 고딕"/>
              </a:rPr>
              <a:t>출석률 20% (예측)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70916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5074920"/>
            <a:ext cx="548640" cy="41148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548640" cy="41148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65192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41F"/>
                </a:solidFill>
                <a:latin typeface="맑은 고딕"/>
              </a:rPr>
              <a:t>랜덤 + 횟수 비공개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49240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→ 응답: "이 정책에서 비 오는 날 결석할 의도" (1~7)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09320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EC4899"/>
                </a:solidFill>
                <a:latin typeface="맑은 고딕"/>
              </a:rPr>
              <a:t>출석률 20% (가변강화 최대)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측정: 결석 의도 1~7 점수 + 비 오는 날 갈 가능성 0~100% · 가설 H3 검정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T1 · 시나리오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팀장 인센티브 표현 효과 — 강의계획서 그대로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강의계획서의 두 표현을 그대로 분리해 보여줌 — gain은 명확, loss는 모호 (비대칭 자체가 발견)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91440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2779776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0B981"/>
                </a:solidFill>
                <a:latin typeface="맑은 고딕"/>
              </a:rPr>
              <a:t>조건 A · GAIN frame (명확)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"팀장 자원자에게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+10점 가산"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B95A7"/>
                </a:solidFill>
                <a:latin typeface="맑은 고딕"/>
              </a:rPr>
              <a:t>표현 특성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+10이라는 명확한 수치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능동 보상 · 긍정 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623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0B981"/>
                </a:solidFill>
                <a:latin typeface="맑은 고딕"/>
              </a:rPr>
              <a:t>예상: 자원 의도 약함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743200"/>
            <a:ext cx="91440" cy="3200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28232" y="2779776"/>
            <a:ext cx="5120640" cy="320040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2743200"/>
            <a:ext cx="5120640" cy="3200400"/>
          </a:xfrm>
          <a:prstGeom prst="roundRect">
            <a:avLst>
              <a:gd name="adj" fmla="val 5000"/>
            </a:avLst>
          </a:prstGeom>
          <a:solidFill>
            <a:srgbClr val="FDE8F5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C4899"/>
                </a:solidFill>
                <a:latin typeface="맑은 고딕"/>
              </a:rPr>
              <a:t>조건 B · LOSS frame (모호)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3756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F141F"/>
                </a:solidFill>
                <a:latin typeface="맑은 고딕"/>
              </a:rPr>
              <a:t>"기여도 저조 시 감점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0F141F"/>
                </a:solidFill>
                <a:latin typeface="맑은 고딕"/>
              </a:rPr>
              <a:t>(현저히 낮다고 판단 시)"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262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B95A7"/>
                </a:solidFill>
                <a:latin typeface="맑은 고딕"/>
              </a:rPr>
              <a:t>표현 특성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846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감점 폭 미명시 → 모호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212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위협 · 회피 · 손실 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623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맑은 고딕"/>
              </a:rPr>
              <a:t>예상: 회피 의도 강함 (≈2×)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F46E5"/>
                </a:solidFill>
                <a:latin typeface="맑은 고딕"/>
              </a:rPr>
              <a:t>발견 포인트: 강의계획서가 gain은 명확하게, loss는 모호하게 설계 → 학생 회피 행동 강화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T1 · 시나리오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팀원 직접 지명 — 실제 행동 측정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후보 N명에서 정확히 2명 지명 (강의계획서 규칙 그대로) — 결정 시간·만족도·친분 편향 측정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779776"/>
            <a:ext cx="3502152" cy="155448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3502152" cy="155448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0B981"/>
                </a:solidFill>
                <a:latin typeface="맑은 고딕"/>
              </a:rPr>
              <a:t>N =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383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단순 비교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794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0B981"/>
                </a:solidFill>
                <a:latin typeface="맑은 고딕"/>
              </a:rPr>
              <a:t>WM 한계 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779776"/>
            <a:ext cx="3502152" cy="155448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2743200"/>
            <a:ext cx="3502152" cy="155448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59E0B"/>
                </a:solidFill>
                <a:latin typeface="맑은 고딕"/>
              </a:rPr>
              <a:t>N =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383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WM 임계점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794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F59E0B"/>
                </a:solidFill>
                <a:latin typeface="맑은 고딕"/>
              </a:rPr>
              <a:t>처리 한계 직전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7031" y="2779776"/>
            <a:ext cx="3502152" cy="155448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2743200"/>
            <a:ext cx="3502152" cy="155448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C4899"/>
                </a:solidFill>
                <a:latin typeface="맑은 고딕"/>
              </a:rPr>
              <a:t>N =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383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한계 초과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794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C4899"/>
                </a:solidFill>
                <a:latin typeface="맑은 고딕"/>
              </a:rPr>
              <a:t>Satisficing 발현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자동 측정 지표 (응답 페이지 timestamp 활용)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29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▸ 친분 편향 점수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76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선택된 2명의 친밀도 / 최댓값 (0~1)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29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▸ 역량 점수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276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선택된 2명의 역량 / 최댓값 (0~1)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532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▸ 결정 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7790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페이지 진입 → 제출까지 (초)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532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▸ 만족도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7790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1~7 Likert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EC4899"/>
                </a:solidFill>
                <a:latin typeface="맑은 고딕"/>
              </a:rPr>
              <a:t>후보 풀 설계: 친분 ★★★★★(역량 중) ↔ 친분 ★(역량 최고) — 트레이드오프 강제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T1 · 시나리오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평가 체계 → 학습시간 분포 (within-subjects)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한 응답자가 두 평가 체계 시나리오에서 본인의 학습 시간을 시점별로 예상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734056"/>
            <a:ext cx="5440680" cy="329184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5440680" cy="329184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91440" cy="3291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59E0B"/>
                </a:solidFill>
                <a:latin typeface="맑은 고딕"/>
              </a:rPr>
              <a:t>체제 A · 단일 기말 (40%)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응답: 8주차 · 15주차 학습/주 (시간)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490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예상 분포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8주차: 적음 · 15주차: 폭증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4572000"/>
            <a:ext cx="498348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4663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9E0B"/>
                </a:solidFill>
                <a:latin typeface="맑은 고딕"/>
              </a:rPr>
              <a:t>이론 예측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83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41F"/>
                </a:solidFill>
                <a:latin typeface="맑은 고딕"/>
              </a:rPr>
              <a:t>B 활성화 ≈ −2.0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41F"/>
                </a:solidFill>
                <a:latin typeface="맑은 고딕"/>
              </a:rPr>
              <a:t>인출 시간 7.4초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734056"/>
            <a:ext cx="5257800" cy="329184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2697480"/>
            <a:ext cx="5257800" cy="329184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697480"/>
            <a:ext cx="91440" cy="3291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834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0B981"/>
                </a:solidFill>
                <a:latin typeface="맑은 고딕"/>
              </a:rPr>
              <a:t>체제 B · 격주 퀴즈 6회 + 기말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91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응답: 8주차 · 15주차 학습/주 (시간)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490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예상 분포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8주차 ≈ 15주차 (분산 학습)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92240" y="4572000"/>
            <a:ext cx="49377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92240" y="4663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0B981"/>
                </a:solidFill>
                <a:latin typeface="맑은 고딕"/>
              </a:rPr>
              <a:t>이론 예측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98348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41F"/>
                </a:solidFill>
                <a:latin typeface="맑은 고딕"/>
              </a:rPr>
              <a:t>B 활성화 ≈ −0.8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41F"/>
                </a:solidFill>
                <a:latin typeface="맑은 고딕"/>
              </a:rPr>
              <a:t>인출 시간 2.2초 (3.4× 빠름)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측정: 학습시간 분포 분산 비교 (F-test) · 이론 예측치 vs 학생 자기보고 정합성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OUR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우리가 제안하는 개선안 3가지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강의계획서의 문제를 이론으로 분석하면, 개선안이 자연스럽게 따라옵니다.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642616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3566160" cy="96012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54680"/>
            <a:ext cx="35661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분산 평가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59E0B"/>
                </a:solidFill>
                <a:latin typeface="맑은 고딕"/>
              </a:rPr>
              <a:t>격주 퀴즈 6회 + 기말 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기말 한 번이 아니라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격주마다 작은 퀴즈로 나누어 본다.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5897880"/>
            <a:ext cx="3017520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6035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B95A7"/>
                </a:solidFill>
                <a:latin typeface="맑은 고딕"/>
              </a:rPr>
              <a:t>근거 이론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636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59E0B"/>
                </a:solidFill>
                <a:latin typeface="맑은 고딕"/>
              </a:rPr>
              <a:t>Forgetting Curve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6552" y="2642616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260604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2606040"/>
            <a:ext cx="3566160" cy="96012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154680"/>
            <a:ext cx="356616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7889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0175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프로필 카드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749039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46E5"/>
                </a:solidFill>
                <a:latin typeface="맑은 고딕"/>
              </a:rPr>
              <a:t>후보별 정보를 카드로 시각화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2976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팀장이 후보 평가할 때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역량·시간·관심을 한 화면에 보여준다.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63440" y="5897880"/>
            <a:ext cx="3017520" cy="0"/>
          </a:xfrm>
          <a:prstGeom prst="line">
            <a:avLst/>
          </a:prstGeom>
          <a:ln w="190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63440" y="6035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B95A7"/>
                </a:solidFill>
                <a:latin typeface="맑은 고딕"/>
              </a:rPr>
              <a:t>근거 이론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62636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46E5"/>
                </a:solidFill>
                <a:latin typeface="맑은 고딕"/>
              </a:rPr>
              <a:t>Working Memory 7±2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65591" y="2642616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59" y="260604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59" y="2606040"/>
            <a:ext cx="3566160" cy="960120"/>
          </a:xfrm>
          <a:prstGeom prst="roundRect">
            <a:avLst>
              <a:gd name="adj" fmla="val 5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59" y="3154680"/>
            <a:ext cx="3566160" cy="41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7889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0175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명확한 가산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749039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C4899"/>
                </a:solidFill>
                <a:latin typeface="맑은 고딕"/>
              </a:rPr>
              <a:t>모호한 감점 → +10 가산만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2976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기준이 모호한 "감점" 표현 대신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명확한 +10 가산만 사용한다.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12480" y="5897880"/>
            <a:ext cx="3017519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12480" y="6035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B95A7"/>
                </a:solidFill>
                <a:latin typeface="맑은 고딕"/>
              </a:rPr>
              <a:t>근거 이론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62636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C4899"/>
                </a:solidFill>
                <a:latin typeface="맑은 고딕"/>
              </a:rPr>
              <a:t>Framing Effect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766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T1 설문은 인식 변화, T2 시뮬은 약한 학생 보호 효과를 검증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설문 화면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응답자 화면 — 인트로 / 출석 시나리오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21</a:t>
            </a:r>
          </a:p>
        </p:txBody>
      </p:sp>
      <p:pic>
        <p:nvPicPr>
          <p:cNvPr id="7" name="Picture 6" descr="01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5577840" cy="43101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인트로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16 유형 미리 보여주고 닉네임 입력 후 시작</a:t>
            </a:r>
          </a:p>
        </p:txBody>
      </p:sp>
      <p:pic>
        <p:nvPicPr>
          <p:cNvPr id="10" name="Picture 9" descr="02_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94560"/>
            <a:ext cx="5440680" cy="42041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603504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출석 정책 비교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6355080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3개 정책에서 각각 결석 의도를 골라요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설문 화면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응답자 화면 — 팀장 인센티브 / 팀원 지명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22</a:t>
            </a:r>
          </a:p>
        </p:txBody>
      </p:sp>
      <p:pic>
        <p:nvPicPr>
          <p:cNvPr id="7" name="Picture 6" descr="03_fr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5577840" cy="43101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팀장 인센티브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응답자 절반은 +10 가산, 절반은 모호한 감점 표현</a:t>
            </a:r>
          </a:p>
        </p:txBody>
      </p:sp>
      <p:pic>
        <p:nvPicPr>
          <p:cNvPr id="10" name="Picture 9" descr="04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94560"/>
            <a:ext cx="5440680" cy="42041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603504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팀원 직접 지명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6355080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후보 N명 중 2명 지명 (강의계획서 규칙)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T2 · 컴퓨터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가상 학생 1000명을 만들어 "약한 학생도 보호되는지" 본다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41F"/>
                </a:solidFill>
                <a:latin typeface="맑은 고딕"/>
              </a:rPr>
              <a:t>왜 1000명이나? 평균만 보면 가려지는 진실이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예: "평균 출석률 80%"라고 해도, 학습률 낮은 학생은 30%일 수 있음.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29184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3429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F46E5"/>
                </a:solidFill>
                <a:latin typeface="맑은 고딕"/>
              </a:rPr>
              <a:t>개인과제 → 팀과제 확장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3877056"/>
            <a:ext cx="5440680" cy="237744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440680" cy="237744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776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B95A7"/>
                </a:solidFill>
                <a:latin typeface="맑은 고딕"/>
              </a:rPr>
              <a:t>개인과제 (현재)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89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F141F"/>
                </a:solidFill>
                <a:latin typeface="맑은 고딕"/>
              </a:rPr>
              <a:t>학생 1명 평균만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3776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모든 학생이 똑같이 학습률 0.15,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작업 기억 7개라고 가정.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→ "평균적 학생"만 본 결과.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3877056"/>
            <a:ext cx="5257800" cy="237744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3840480"/>
            <a:ext cx="5257800" cy="2377440"/>
          </a:xfrm>
          <a:prstGeom prst="roundRect">
            <a:avLst>
              <a:gd name="adj" fmla="val 5000"/>
            </a:avLst>
          </a:prstGeom>
          <a:solidFill>
            <a:srgbClr val="EEEAFE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7763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팀과제 (확장)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891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41F"/>
                </a:solidFill>
                <a:latin typeface="맑은 고딕"/>
              </a:rPr>
              <a:t>가상 학생 1000명, 사람마다 다르게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93776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학습률·기억력·작업 기억이 모두 다른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1000명을 가상으로 만들어 시뮬.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→ 평균뿐 아니라 하위 25%도 본다.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맑은 고딕"/>
              </a:rPr>
              <a:t>분석 질문: 개선안이 약한 학생도 도와주는가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T2 · 시뮬 입력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가상 학생 1000명 중 1명을 어떻게 설정하는가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7"/>
                </a:solidFill>
                <a:latin typeface="맑은 고딕"/>
              </a:rPr>
              <a:t>1000명을 모두 똑같이 만들면 의미 없음. 학생마다 인지 능력이 다르게 무작위 배정함.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2642616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EEEAFE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46E5"/>
                </a:solidFill>
                <a:latin typeface="맑은 고딕"/>
              </a:rPr>
              <a:t>예시 학생 #1 · '김민준'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코드가 1000명을 만들 때 첫 번째 학생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3520440"/>
            <a:ext cx="5074920" cy="0"/>
          </a:xfrm>
          <a:prstGeom prst="line">
            <a:avLst/>
          </a:prstGeom>
          <a:ln w="190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6576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학습률 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657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4F46E5"/>
                </a:solidFill>
                <a:latin typeface="맑은 고딕"/>
              </a:rPr>
              <a:t>0.18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24B5C"/>
                </a:solidFill>
                <a:latin typeface="맑은 고딕"/>
              </a:rPr>
              <a:t>평균(0.15)보다 약간 높음 — 새 경험을 빨리 받아들임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434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망각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343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4F46E5"/>
                </a:solidFill>
                <a:latin typeface="맑은 고딕"/>
              </a:rPr>
              <a:t>0.42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24B5C"/>
                </a:solidFill>
                <a:latin typeface="맑은 고딕"/>
              </a:rPr>
              <a:t>평균(0.50)보다 낮음 — 기억이 천천히 사라짐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292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작업 기억 WM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0292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4F46E5"/>
                </a:solidFill>
                <a:latin typeface="맑은 고딕"/>
              </a:rPr>
              <a:t>8 chunks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94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24B5C"/>
                </a:solidFill>
                <a:latin typeface="맑은 고딕"/>
              </a:rPr>
              <a:t>평균(7)보다 1 큼 — 한 번에 더 많이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150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F141F"/>
                </a:solidFill>
                <a:latin typeface="맑은 고딕"/>
              </a:rPr>
              <a:t>동기 motivation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715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4F46E5"/>
                </a:solidFill>
                <a:latin typeface="맑은 고딕"/>
              </a:rPr>
              <a:t>0.67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080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24B5C"/>
                </a:solidFill>
                <a:latin typeface="맑은 고딕"/>
              </a:rPr>
              <a:t>평균(0.50)보다 높음 — 자발적 학습 의지 있음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06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F46E5"/>
                </a:solidFill>
                <a:latin typeface="맑은 고딕"/>
              </a:rPr>
              <a:t>어떻게 무작위 추출하는가 (실제 코드)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rng = np.random.default_rng(42)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alpha = rng.normal(0.15, 0.05)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d     = rng.normal(0.50, 0.10)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WM    = rng.choice([5,6,7,8,9])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motiv = rng.normal(0.50, 0.20)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4526280"/>
            <a:ext cx="512064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0" y="4663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C4899"/>
                </a:solidFill>
                <a:latin typeface="맑은 고딕"/>
              </a:rPr>
              <a:t>1000명 각자 다른 4가지 속성 조합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292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김민준 같은 학생은 잘 적응한다.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반면 α=0.08, WM=5인 학생은 같은 강의계획서에서 훨씬 큰 어려움을 겪는다.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24B5C"/>
                </a:solidFill>
                <a:latin typeface="맑은 고딕"/>
              </a:rPr>
              <a:t>1000명 중 가장 약한 25%가 보호되는지를 본다.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629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이 설정값은 문헌 표준값 · T1 설문으로 본 강 학생 실제 값을 수집해 보정 예정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T2 · 시뮬 결과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평균만 보면 가려지는 진실 — 분포 효과 차트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같은 강의계획서를 받아도 학생마다 결과가 다르다. 평균보다 "가장 약한 학생"에서 차이가 크다.</a:t>
            </a:r>
          </a:p>
        </p:txBody>
      </p:sp>
      <p:pic>
        <p:nvPicPr>
          <p:cNvPr id="8" name="Picture 7" descr="char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6400800" cy="3556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96912" y="2642616"/>
            <a:ext cx="4297680" cy="384048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69480" y="2606040"/>
            <a:ext cx="4297680" cy="384048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27432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F46E5"/>
                </a:solidFill>
                <a:latin typeface="맑은 고딕"/>
              </a:rPr>
              <a:t>두 학생을 따라가 봅시다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3191256"/>
            <a:ext cx="393192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52360" y="3154680"/>
            <a:ext cx="3931920" cy="14173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2461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0B981"/>
                </a:solidFill>
                <a:latin typeface="맑은 고딕"/>
              </a:rPr>
              <a:t>🟢 김민준 (평균 학생)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56616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기존 강의계획서: 12.5초만에 답 떠올림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분산 평가 도입: 10.2초 (조금 빨라짐)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9792" y="4700016"/>
            <a:ext cx="3931920" cy="1417320"/>
          </a:xfrm>
          <a:prstGeom prst="roundRect">
            <a:avLst>
              <a:gd name="adj" fmla="val 5000"/>
            </a:avLst>
          </a:prstGeom>
          <a:solidFill>
            <a:srgbClr val="E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60" y="4663440"/>
            <a:ext cx="3931920" cy="1417320"/>
          </a:xfrm>
          <a:prstGeom prst="roundRect">
            <a:avLst>
              <a:gd name="adj" fmla="val 5000"/>
            </a:avLst>
          </a:prstGeom>
          <a:solidFill>
            <a:srgbClr val="FDE8F5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548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C4899"/>
                </a:solidFill>
                <a:latin typeface="맑은 고딕"/>
              </a:rPr>
              <a:t>🔴 홍길동 (약한 학생)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749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기존 강의계획서: 22.3초 (1.8배 손해)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분산 평가 도입: 13.5초 (대폭 개선)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61722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F141F"/>
                </a:solidFill>
                <a:latin typeface="맑은 고딕"/>
              </a:rPr>
              <a:t>→ 같은 개선안인데 효과는 약한 학생에게 더 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37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EC4899"/>
                </a:solidFill>
                <a:latin typeface="맑은 고딕"/>
              </a:rPr>
              <a:t>결국 우리가 보는 것: 강의계획서가 누구를 가장 힘들게 하는가, 개선안이 그걸 줄이는가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T3 · 친분 그래프 시뮬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친구 관계를 그림으로 그려서 "팀장이 누구를 뽑는지" 시뮬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41F"/>
                </a:solidFill>
                <a:latin typeface="맑은 고딕"/>
              </a:rPr>
              <a:t>사람 모집 없이도 친분 휴리스틱을 검증할 수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24B5C"/>
                </a:solidFill>
                <a:latin typeface="맑은 고딕"/>
              </a:rPr>
              <a:t>가상 학생 30명에 친한 정도를 다 설정 → 팀장이 5가지 방식으로 뽑게 함 → 그림으로 비교.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29184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3429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F46E5"/>
                </a:solidFill>
                <a:latin typeface="맑은 고딕"/>
              </a:rPr>
              <a:t>5가지 팀장 선택 방식 (그림 5장 산출)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0B981"/>
                </a:solidFill>
                <a:latin typeface="맑은 고딕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86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무작위로 뽑기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886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그냥 랜덤 5명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886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0B981"/>
                </a:solidFill>
                <a:latin typeface="맑은 고딕"/>
              </a:rPr>
              <a:t>친분 편향 0 → 비교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07407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C4899"/>
                </a:solidFill>
                <a:latin typeface="맑은 고딕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616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친한 사람만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3616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친밀도 상위 5명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3616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EC4899"/>
                </a:solidFill>
                <a:latin typeface="맑은 고딕"/>
              </a:rPr>
              <a:t>친분 100%, 역량 낮음 (현실)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8289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46E5"/>
                </a:solidFill>
                <a:latin typeface="맑은 고딕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3717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잘하는 사람만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8371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역량 상위 5명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83717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F46E5"/>
                </a:solidFill>
                <a:latin typeface="맑은 고딕"/>
              </a:rPr>
              <a:t>역량 100%, 친분 0 (이상)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5838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59E0B"/>
                </a:solidFill>
                <a:latin typeface="맑은 고딕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126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머리에 떠오르는 사람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31266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친한 7명 떠올리고 그 중 5명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531266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F59E0B"/>
                </a:solidFill>
                <a:latin typeface="맑은 고딕"/>
              </a:rPr>
              <a:t>현실의 satisficing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8338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24B5C"/>
                </a:solidFill>
                <a:latin typeface="맑은 고딕"/>
              </a:rPr>
              <a:t>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7881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41F"/>
                </a:solidFill>
                <a:latin typeface="맑은 고딕"/>
              </a:rPr>
              <a:t>프로필 카드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7881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정보 본 후 다양성 고려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7881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424B5C"/>
                </a:solidFill>
                <a:latin typeface="맑은 고딕"/>
              </a:rPr>
              <a:t>균형 잡힌 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맑은 고딕"/>
              </a:rPr>
              <a:t>결과: 5장의 네트워크 그래프 → 발표 슬라이드 임팩트 최고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T3 · 친분 그래프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0F141F"/>
                </a:solidFill>
                <a:latin typeface="맑은 고딕"/>
              </a:rPr>
              <a:t>5가지 선택 방식이 만들어내는 그림이 진짜 다름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B95A7"/>
                </a:solidFill>
                <a:latin typeface="맑은 고딕"/>
              </a:rPr>
              <a:t>24</a:t>
            </a:r>
          </a:p>
        </p:txBody>
      </p:sp>
      <p:pic>
        <p:nvPicPr>
          <p:cNvPr id="7" name="Picture 6" descr="chart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10972800" cy="3790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F46E5"/>
                </a:solidFill>
                <a:latin typeface="맑은 고딕"/>
              </a:rPr>
              <a:t>한눈에 보이는 차이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왼쪽 (친분 우선): 팀장 주변 노드만 분홍색. 친한 사람만 뽑힘.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24B5C"/>
                </a:solidFill>
                <a:latin typeface="맑은 고딕"/>
              </a:rPr>
              <a:t>오른쪽 (프로필 카드): 그래프 전체에 골고루 분포. 다양한 역량 확보.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