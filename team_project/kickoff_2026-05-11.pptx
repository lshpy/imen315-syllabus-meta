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334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36391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66744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169663"/>
            <a:ext cx="91440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0016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202936"/>
            <a:ext cx="91440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7332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03120"/>
            <a:ext cx="91440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017520"/>
            <a:ext cx="396274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2103120"/>
            <a:ext cx="91440" cy="1965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4027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65176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7" name="Picture 16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017520"/>
            <a:ext cx="248763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79"/>
            <a:ext cx="91440" cy="19659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19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19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3" name="Picture 22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212079"/>
            <a:ext cx="2873829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4297679"/>
            <a:ext cx="91440" cy="19659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4348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84631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29" name="Picture 28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212079"/>
            <a:ext cx="3345316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강의계획서가 만들어내는 효과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"출석 예정일 외에도 임의로 체크"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5760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학생은 "오늘 안 가면 잡힐까?" 모름.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슬롯머신처럼 매일 출석하게 됨.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행동이 굳어서 한 학기 내내 출석.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시뮬레이션 결과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월요일만 체크하면 출석률 6.7%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랜덤+비공개로 하면 20% (3배 ↑)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626364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6263640"/>
            <a:ext cx="18288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검증할 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0" name="Picture 9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강의계획서가 만들어내는 효과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"중간고사 폐지, 기말고사 1회 (40%)"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657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3월에 배운 내용을 6월 시험에서 떠올려야 함.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80일이나 지났으니 기억이 거의 사라짐.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시험 직전 벼락치기로 몰림 (massed practice).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시뮬레이션 결과 — 시험장 인출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단일 기말 학생: 답 떠올리는 데 약 7.4초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격주 퀴즈 학생: 약 2.2초 (3.4배 빠름)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626364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6263640"/>
            <a:ext cx="201168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3.4× 빠른 인출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0" name="Picture 9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강의계획서가 만들어내는 효과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"팀장이 팀원 중 2명을 직접 지명"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65760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후보가 많으면 머리에 다 안 들어옴.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떠오르는 친한 사람으로 결정 (satisficing).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결과: 친분 기반 팀 구성, 역량 균형 깨짐.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시뮬레이션 결과 — 팀 구성 만족도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정보 없이 N=15: 만족도 70% 이하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주면: 92% 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626364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6263640"/>
            <a:ext cx="228600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한계 우회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5212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5212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571500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3" name="Picture 12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651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강의계획서가 만들어내는 효과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1752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"+10점 가산" vs "현저히 낮다고 판단 시 감점"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6576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+10은 "준다"는 명확한 보상.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감점은 "기준이 모호한 위협".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학생은 모호한 위협에 더 강하게 회피 반응.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2240" y="507492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922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예상 결과 — 표현만 달라도 반응 차이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486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+10 가산 보고 자원하는 학생: 적당함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감점 회피하려 자원하는 학생: 약 2배 많음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626364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2194560" cy="36576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손실 회피 효과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💡 우리가 보고 싶은 결과: 감점 그룹 응답이 +10 그룹보다 약 2배 더 강한 의도 (Cohen's d ≈ 0.5+)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💡 우리가 보고 싶은 결과: N=3·7 그룹은 만족도 5~6점, N=15 그룹은 4점 이하로 급감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💡 우리가 보고 싶은 결과: 결석 의도: 고정 매주월 &gt; 랜덤 빈도공개 &gt; 랜덤 비공개 순서로 감소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💡 우리가 보고 싶은 결과: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응답자가 실제로 보는 화면 — Streamlit 학습 MBTI 앱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단톡에 링크 풀면 학생들이 이런 화면을 5분 동안 봅니다.</a:t>
            </a:r>
          </a:p>
        </p:txBody>
      </p:sp>
      <p:pic>
        <p:nvPicPr>
          <p:cNvPr id="8" name="Picture 7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5440680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4270248"/>
            <a:ext cx="5440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① 인트로 — 16 유형 미리보기 +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606040"/>
            <a:ext cx="5440680" cy="1645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270248"/>
            <a:ext cx="5440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② 출석 정책 3 조건 평가 (within)</a:t>
            </a:r>
          </a:p>
        </p:txBody>
      </p:sp>
      <p:pic>
        <p:nvPicPr>
          <p:cNvPr id="12" name="Picture 11" descr="03_fram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572000"/>
            <a:ext cx="5440680" cy="1645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6236208"/>
            <a:ext cx="5440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③ 인센티브 표현 — 강의계획서 원문</a:t>
            </a:r>
          </a:p>
        </p:txBody>
      </p:sp>
      <p:pic>
        <p:nvPicPr>
          <p:cNvPr id="14" name="Picture 13" descr="04_te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572000"/>
            <a:ext cx="5440680" cy="1645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63640" y="6236208"/>
            <a:ext cx="5440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④ 팀원 2명 직접 지명 (강의계획서 규칙)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동일 설문을 Google Forms·Sheets에도 동시 배포 → 도구별 응답률 차이로 인터페이스 효과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6751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4F46E5"/>
                </a:solidFill>
                <a:latin typeface="맑은 고딕"/>
              </a:rPr>
              <a:t>라이브 URL — imen315-syllabus-meta-gpvxmznvcygwd9cln2bnjp.streamlit.app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6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→ 보고서 핵심 한 줄: "개선안이 약한 학생도 도와주는가?"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왜 평균만 보면 안 되는가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같은 개선안도 평균 학생에게는 별 차이 없지만, 약한 학생에게는 큰 도움이 된다.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7315200" cy="4064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0" y="2606040"/>
            <a:ext cx="3291840" cy="3657600"/>
          </a:xfrm>
          <a:prstGeom prst="roundRect">
            <a:avLst>
              <a:gd name="adj" fmla="val 6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이게 무슨 의미?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200400"/>
            <a:ext cx="301752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평균 12.5초 vs 하위 22.3초.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약한 학생이 1.8배 손해.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 시: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평균 10.2초 vs 하위 13.5초.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격차 1.3배로 감소.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→ 보고서 핵심: 우리 개선안은 "평균"이 아니라 "분포의 꼬리"를 다듬는다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💡 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왼쪽 (친분 우선) — 팀장 옆 동그라미들만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오른쪽 (프로필 카드) — 그래프 전체에 골고루 분포. 다양한 역량 확보됨.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